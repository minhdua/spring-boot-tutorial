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6" r:id="rId3"/>
    <p:sldId id="259" r:id="rId4"/>
    <p:sldId id="260" r:id="rId5"/>
    <p:sldId id="261" r:id="rId6"/>
    <p:sldId id="258" r:id="rId7"/>
    <p:sldId id="265" r:id="rId8"/>
    <p:sldId id="264" r:id="rId9"/>
    <p:sldId id="262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370D"/>
    <a:srgbClr val="6EB53F"/>
    <a:srgbClr val="E6E6E6"/>
    <a:srgbClr val="4A5566"/>
    <a:srgbClr val="818C98"/>
    <a:srgbClr val="314356"/>
    <a:srgbClr val="4D586A"/>
    <a:srgbClr val="909696"/>
    <a:srgbClr val="4D5666"/>
    <a:srgbClr val="CACC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70" autoAdjust="0"/>
  </p:normalViewPr>
  <p:slideViewPr>
    <p:cSldViewPr snapToGrid="0">
      <p:cViewPr>
        <p:scale>
          <a:sx n="33" d="100"/>
          <a:sy n="33" d="100"/>
        </p:scale>
        <p:origin x="59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7A8F5-E41A-445A-8AA6-870708438019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B317D-3C3C-4C04-8829-D35E2C0C8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51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Spring boot 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B317D-3C3C-4C04-8829-D35E2C0C8F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09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B317D-3C3C-4C04-8829-D35E2C0C8F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70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vi-VN" b="0" i="0">
                <a:solidFill>
                  <a:srgbClr val="222222"/>
                </a:solidFill>
                <a:effectLst/>
                <a:latin typeface="Roboto"/>
              </a:rPr>
              <a:t>1. Máy chủ Web nhận HTTP request</a:t>
            </a:r>
          </a:p>
          <a:p>
            <a:pPr algn="l"/>
            <a:r>
              <a:rPr lang="vi-VN" b="0" i="0">
                <a:solidFill>
                  <a:srgbClr val="222222"/>
                </a:solidFill>
                <a:effectLst/>
                <a:latin typeface="Roboto"/>
              </a:rPr>
              <a:t>2. Máy chủ Web chuyển tiếp yêu cầu tới servlet container</a:t>
            </a:r>
          </a:p>
          <a:p>
            <a:pPr algn="l"/>
            <a:r>
              <a:rPr lang="vi-VN" b="0" i="0">
                <a:solidFill>
                  <a:srgbClr val="222222"/>
                </a:solidFill>
                <a:effectLst/>
                <a:latin typeface="Roboto"/>
              </a:rPr>
              <a:t>3. Servlet được lấy ra một cách tự động và tải lên địa chỉ không gian của container, nếu nó nằm trong container.</a:t>
            </a:r>
          </a:p>
          <a:p>
            <a:pPr algn="l"/>
            <a:r>
              <a:rPr lang="vi-VN" b="0" i="0">
                <a:solidFill>
                  <a:srgbClr val="222222"/>
                </a:solidFill>
                <a:effectLst/>
                <a:latin typeface="Roboto"/>
              </a:rPr>
              <a:t>4. Container gọi init () method của servlet để khởi tạo (được gọi một lần khi servlet được load lần đầu tiên)</a:t>
            </a:r>
          </a:p>
          <a:p>
            <a:pPr algn="l"/>
            <a:r>
              <a:rPr lang="vi-VN" b="0" i="0">
                <a:solidFill>
                  <a:srgbClr val="222222"/>
                </a:solidFill>
                <a:effectLst/>
                <a:latin typeface="Roboto"/>
              </a:rPr>
              <a:t>5. Container gọi service () method của servlet để xử lý HTTP request, tức là đọc dữ liệu trong yêu cầu và hình thành một response</a:t>
            </a:r>
          </a:p>
          <a:p>
            <a:pPr algn="l"/>
            <a:r>
              <a:rPr lang="vi-VN" b="0" i="0">
                <a:solidFill>
                  <a:srgbClr val="222222"/>
                </a:solidFill>
                <a:effectLst/>
                <a:latin typeface="Roboto"/>
              </a:rPr>
              <a:t>6. Web server trả lại kết quả động đúng với vị trí yêu cầu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B317D-3C3C-4C04-8829-D35E2C0C8F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28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860C-02E3-4EC0-9038-3B965AAC6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BB329-3FFD-412B-A139-59F4D4B164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F4C00-14F0-4A69-89E5-0496A2E5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D2AE0-D353-4309-91CC-460E91BD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F7927-FB8E-456A-AA00-10B2C9DC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27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C682F-6E31-422B-ABE8-AB31CE03F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4D42E-20F6-403A-AEA4-1EC3A990A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150AE-5278-4774-85D6-D84A4B72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35B92-F59B-436B-B3B3-999F01F4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82376-CE94-4AA0-AD74-96E9A38DB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31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FC98-FBC0-46AE-A24B-2F2D58CE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7FD53-4C1B-4C73-930F-B25D7DBDA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768FE-735C-4FFD-B008-1084CBC5D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7AEBE-2D82-4787-A708-0FAC896D7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68DFF-2CFE-4A1C-AA3D-096C8247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53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BBCF-DC33-4D23-93B9-502DCF15A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CC839-B688-44C6-BE3B-45CBA9DF6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45B14-08ED-464C-B417-28DA98973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B9A58-DA88-49E4-AF6A-A99B32A3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5CA54-9822-404A-8A86-34AC9DD4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80451-19E5-4137-A245-A9A0FE7A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2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F9048-39D8-4C56-A5DD-D33E76C31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F85D1-E225-4A39-AE7A-5AFC81EEA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02F90-1968-4750-BF82-362E195D3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2A559-5B68-4B06-BD4B-E2FA567F7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82A1CD-C5D9-479B-A7A0-59E6341FE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417B2-2AAE-46FD-B0E0-3A84804E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155A83-C57E-4818-973F-C999BFB5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AA2A9-8540-4C5F-9304-1E79AB23D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3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77596-0C17-463C-8883-54AC4143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0F2B6-5B29-4BF8-A74B-35FED5BED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85FC25-2661-48BC-BF2D-0560B3A4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2D471-5CD0-437D-ADB2-9FBCADFB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59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707D4A-20D3-4034-B551-1858D5E7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A0B8F-9947-4184-B212-AF867423C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6EC40-3521-4184-A6C5-71290861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40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98BF-8B2F-405A-BFBE-5A5ABFFC1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C1BD1-4750-4F6A-B444-8D4B46E58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6A675-6BA6-4489-AD75-A82C2EEFA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D89BF-51CA-4ED8-9CE0-A28831D0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C82CD-6DFF-4D20-937B-F9E6EF9F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4BA6D-FBD3-4B89-91A9-B314CDBF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22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6E64-ABF7-4D40-9954-65E8E77BA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B96E20-3E49-4ED5-8503-7165F2C72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F3715-470A-4B13-90E9-2F0A37E38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0FB11-7067-4BC5-8BC6-7AF304AB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CE132-50CE-4B34-A3A4-ACA28738F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996BD-CE33-44F2-B82B-6E28A2D6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2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7C4DF-F24D-477D-99FF-A5496339B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08911-C4DE-461D-996D-30CE72081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E1FB7-C9DB-43B4-9C3A-A591633A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7CA71-5884-43F0-B9AC-8AC7C9912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611DA-B3C8-4ECC-AADB-5BBAABE4D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5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FCFFB-FC30-4F36-A29F-67D0B41681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6CFD43-8F6C-403A-9E40-0516CB708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2F345-7957-422D-8EE5-81649AB55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37559-FA92-4AC1-B1B1-B69135977339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CC92D-DF93-4592-86D9-714C89BD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0FE4F-C684-4C34-8B35-65049BC8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63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26147-1465-4F91-A467-2E8A20FCF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9639B-0789-4CD1-B751-EA1AC93B4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99BD7-EE64-46F5-A1F2-B9AE330D9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37559-FA92-4AC1-B1B1-B69135977339}" type="datetimeFigureOut">
              <a:rPr lang="en-US" smtClean="0"/>
              <a:t>4/25/2021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24930-E0EB-44FA-BE6A-C0CBF0DF9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19D03-30EF-458E-9E14-DF2B87E2B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6D370-64E0-4397-841B-B481DDA14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80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11" Type="http://schemas.openxmlformats.org/officeDocument/2006/relationships/slide" Target="slide7.xml"/><Relationship Id="rId5" Type="http://schemas.openxmlformats.org/officeDocument/2006/relationships/image" Target="../media/image4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slide" Target="slide1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slide" Target="sl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tomcat.apache.or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slide" Target="slide5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ACAE1F0-C9D2-41CC-97D4-17C06648FDD4}"/>
              </a:ext>
            </a:extLst>
          </p:cNvPr>
          <p:cNvSpPr/>
          <p:nvPr/>
        </p:nvSpPr>
        <p:spPr>
          <a:xfrm>
            <a:off x="3354229" y="1813904"/>
            <a:ext cx="7930535" cy="2382684"/>
          </a:xfrm>
          <a:prstGeom prst="roundRect">
            <a:avLst/>
          </a:prstGeom>
          <a:solidFill>
            <a:srgbClr val="437E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58FBE-042F-4A80-A3A2-556A4B293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5068" y="4452098"/>
            <a:ext cx="3989696" cy="1219067"/>
          </a:xfrm>
        </p:spPr>
        <p:txBody>
          <a:bodyPr>
            <a:normAutofit/>
          </a:bodyPr>
          <a:lstStyle/>
          <a:p>
            <a:pPr algn="l"/>
            <a:r>
              <a:rPr lang="en-US" sz="1800">
                <a:solidFill>
                  <a:schemeClr val="accent1">
                    <a:lumMod val="75000"/>
                  </a:schemeClr>
                </a:solidFill>
              </a:rPr>
              <a:t>Present: Nguyễn Văn A</a:t>
            </a:r>
          </a:p>
          <a:p>
            <a:pPr algn="l"/>
            <a:r>
              <a:rPr lang="en-US" sz="1800">
                <a:solidFill>
                  <a:schemeClr val="accent1">
                    <a:lumMod val="75000"/>
                  </a:schemeClr>
                </a:solidFill>
              </a:rPr>
              <a:t>Demo: Nguyễn Văn B</a:t>
            </a:r>
          </a:p>
          <a:p>
            <a:pPr algn="l"/>
            <a:r>
              <a:rPr lang="en-US" sz="1800">
                <a:solidFill>
                  <a:schemeClr val="accent1">
                    <a:lumMod val="75000"/>
                  </a:schemeClr>
                </a:solidFill>
              </a:rPr>
              <a:t>Collection: Nguyễn Văn C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DC185D3-DD97-4131-9AA4-365C1834CAA9}"/>
              </a:ext>
            </a:extLst>
          </p:cNvPr>
          <p:cNvSpPr/>
          <p:nvPr/>
        </p:nvSpPr>
        <p:spPr>
          <a:xfrm>
            <a:off x="0" y="0"/>
            <a:ext cx="2478157" cy="6858000"/>
          </a:xfrm>
          <a:custGeom>
            <a:avLst/>
            <a:gdLst>
              <a:gd name="connsiteX0" fmla="*/ 2414919 w 2478157"/>
              <a:gd name="connsiteY0" fmla="*/ 1182062 h 6858000"/>
              <a:gd name="connsiteX1" fmla="*/ 363913 w 2478157"/>
              <a:gd name="connsiteY1" fmla="*/ 3241518 h 6858000"/>
              <a:gd name="connsiteX2" fmla="*/ 2305991 w 2478157"/>
              <a:gd name="connsiteY2" fmla="*/ 5403995 h 6858000"/>
              <a:gd name="connsiteX3" fmla="*/ 2311817 w 2478157"/>
              <a:gd name="connsiteY3" fmla="*/ 5332662 h 6858000"/>
              <a:gd name="connsiteX4" fmla="*/ 435459 w 2478157"/>
              <a:gd name="connsiteY4" fmla="*/ 3243362 h 6858000"/>
              <a:gd name="connsiteX5" fmla="*/ 2417058 w 2478157"/>
              <a:gd name="connsiteY5" fmla="*/ 1253600 h 6858000"/>
              <a:gd name="connsiteX6" fmla="*/ 0 w 2478157"/>
              <a:gd name="connsiteY6" fmla="*/ 0 h 6858000"/>
              <a:gd name="connsiteX7" fmla="*/ 2478157 w 2478157"/>
              <a:gd name="connsiteY7" fmla="*/ 0 h 6858000"/>
              <a:gd name="connsiteX8" fmla="*/ 2478157 w 2478157"/>
              <a:gd name="connsiteY8" fmla="*/ 1413910 h 6858000"/>
              <a:gd name="connsiteX9" fmla="*/ 636105 w 2478157"/>
              <a:gd name="connsiteY9" fmla="*/ 3255962 h 6858000"/>
              <a:gd name="connsiteX10" fmla="*/ 2478157 w 2478157"/>
              <a:gd name="connsiteY10" fmla="*/ 5098014 h 6858000"/>
              <a:gd name="connsiteX11" fmla="*/ 2478157 w 2478157"/>
              <a:gd name="connsiteY11" fmla="*/ 6858000 h 6858000"/>
              <a:gd name="connsiteX12" fmla="*/ 0 w 2478157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157" h="6858000">
                <a:moveTo>
                  <a:pt x="2414919" y="1182062"/>
                </a:moveTo>
                <a:cubicBezTo>
                  <a:pt x="1293111" y="1215621"/>
                  <a:pt x="392859" y="2119581"/>
                  <a:pt x="363913" y="3241518"/>
                </a:cubicBezTo>
                <a:cubicBezTo>
                  <a:pt x="334966" y="4363454"/>
                  <a:pt x="1187406" y="5312634"/>
                  <a:pt x="2305991" y="5403995"/>
                </a:cubicBezTo>
                <a:lnTo>
                  <a:pt x="2311817" y="5332662"/>
                </a:lnTo>
                <a:cubicBezTo>
                  <a:pt x="1231085" y="5244392"/>
                  <a:pt x="407492" y="4327332"/>
                  <a:pt x="435459" y="3243362"/>
                </a:cubicBezTo>
                <a:cubicBezTo>
                  <a:pt x="463426" y="2159392"/>
                  <a:pt x="1333212" y="1286023"/>
                  <a:pt x="2417058" y="1253600"/>
                </a:cubicBezTo>
                <a:close/>
                <a:moveTo>
                  <a:pt x="0" y="0"/>
                </a:moveTo>
                <a:lnTo>
                  <a:pt x="2478157" y="0"/>
                </a:lnTo>
                <a:lnTo>
                  <a:pt x="2478157" y="1413910"/>
                </a:lnTo>
                <a:cubicBezTo>
                  <a:pt x="1460820" y="1413910"/>
                  <a:pt x="636105" y="2238625"/>
                  <a:pt x="636105" y="3255962"/>
                </a:cubicBezTo>
                <a:cubicBezTo>
                  <a:pt x="636105" y="4273299"/>
                  <a:pt x="1460820" y="5098014"/>
                  <a:pt x="2478157" y="5098014"/>
                </a:cubicBezTo>
                <a:lnTo>
                  <a:pt x="247815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BB4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46105B-FCAE-4B27-8CD3-C9AE3156B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54" y="2074916"/>
            <a:ext cx="2220036" cy="19963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C39C0C-FD15-4FC8-9B30-02B9573965F1}"/>
              </a:ext>
            </a:extLst>
          </p:cNvPr>
          <p:cNvSpPr txBox="1"/>
          <p:nvPr/>
        </p:nvSpPr>
        <p:spPr>
          <a:xfrm>
            <a:off x="1101797" y="4023286"/>
            <a:ext cx="1822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Spring Boot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AA48B8-B05B-4D93-8F10-B2F4EC39FED4}"/>
              </a:ext>
            </a:extLst>
          </p:cNvPr>
          <p:cNvGrpSpPr/>
          <p:nvPr/>
        </p:nvGrpSpPr>
        <p:grpSpPr>
          <a:xfrm>
            <a:off x="11420105" y="10013"/>
            <a:ext cx="864660" cy="6858000"/>
            <a:chOff x="11418977" y="1579875"/>
            <a:chExt cx="681387" cy="466127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B2CE49-C4CC-421A-BACE-BB59401D7156}"/>
                </a:ext>
              </a:extLst>
            </p:cNvPr>
            <p:cNvSpPr/>
            <p:nvPr/>
          </p:nvSpPr>
          <p:spPr>
            <a:xfrm>
              <a:off x="11604306" y="1579875"/>
              <a:ext cx="391383" cy="4661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E26A2D4-C479-4A37-B431-E54BC32EF19B}"/>
                </a:ext>
              </a:extLst>
            </p:cNvPr>
            <p:cNvSpPr/>
            <p:nvPr/>
          </p:nvSpPr>
          <p:spPr>
            <a:xfrm rot="19906743" flipV="1">
              <a:off x="11418977" y="1968062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6E2DE78-A774-4053-B979-A6475BF85A84}"/>
                </a:ext>
              </a:extLst>
            </p:cNvPr>
            <p:cNvSpPr/>
            <p:nvPr/>
          </p:nvSpPr>
          <p:spPr>
            <a:xfrm rot="19906743" flipV="1">
              <a:off x="11418977" y="2321137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3DF1379-DC92-4D06-B06B-7D1178C5BCC8}"/>
                </a:ext>
              </a:extLst>
            </p:cNvPr>
            <p:cNvSpPr/>
            <p:nvPr/>
          </p:nvSpPr>
          <p:spPr>
            <a:xfrm rot="19906743" flipV="1">
              <a:off x="11418977" y="2674211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F2E6FB5-415B-4811-A272-E79C7649FC41}"/>
                </a:ext>
              </a:extLst>
            </p:cNvPr>
            <p:cNvSpPr/>
            <p:nvPr/>
          </p:nvSpPr>
          <p:spPr>
            <a:xfrm rot="19906743" flipV="1">
              <a:off x="11418977" y="3027286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BF1D878-42D1-4A3B-B722-3EB2CB6E27BA}"/>
                </a:ext>
              </a:extLst>
            </p:cNvPr>
            <p:cNvSpPr/>
            <p:nvPr/>
          </p:nvSpPr>
          <p:spPr>
            <a:xfrm rot="19906743" flipV="1">
              <a:off x="11418977" y="3380360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34E6821-D1E2-44D0-8D05-1A326399F4C6}"/>
                </a:ext>
              </a:extLst>
            </p:cNvPr>
            <p:cNvSpPr/>
            <p:nvPr/>
          </p:nvSpPr>
          <p:spPr>
            <a:xfrm rot="19906743" flipV="1">
              <a:off x="11418977" y="3733435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D8BB4E8-A8AD-4D3F-B19B-0F30DD69CC35}"/>
                </a:ext>
              </a:extLst>
            </p:cNvPr>
            <p:cNvSpPr/>
            <p:nvPr/>
          </p:nvSpPr>
          <p:spPr>
            <a:xfrm rot="19906743" flipV="1">
              <a:off x="11418977" y="4086509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522C316-C470-467E-AF93-0D1140C90CA1}"/>
                </a:ext>
              </a:extLst>
            </p:cNvPr>
            <p:cNvSpPr/>
            <p:nvPr/>
          </p:nvSpPr>
          <p:spPr>
            <a:xfrm rot="19906743" flipV="1">
              <a:off x="11418977" y="4439584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F38B5FC-9761-42CA-AE85-236FC2632969}"/>
                </a:ext>
              </a:extLst>
            </p:cNvPr>
            <p:cNvSpPr/>
            <p:nvPr/>
          </p:nvSpPr>
          <p:spPr>
            <a:xfrm rot="19906743" flipV="1">
              <a:off x="11418977" y="4792658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C5813BF-DBFF-4B1F-A88A-D05CEE50C831}"/>
                </a:ext>
              </a:extLst>
            </p:cNvPr>
            <p:cNvSpPr/>
            <p:nvPr/>
          </p:nvSpPr>
          <p:spPr>
            <a:xfrm rot="19906743" flipV="1">
              <a:off x="11418977" y="5145733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2D92BD1-1D61-4BA2-B617-E0453B778E20}"/>
                </a:ext>
              </a:extLst>
            </p:cNvPr>
            <p:cNvSpPr/>
            <p:nvPr/>
          </p:nvSpPr>
          <p:spPr>
            <a:xfrm rot="19906743" flipV="1">
              <a:off x="11418977" y="5498807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071AE62-2D85-446E-902D-B149C5FECF5B}"/>
                </a:ext>
              </a:extLst>
            </p:cNvPr>
            <p:cNvSpPr/>
            <p:nvPr/>
          </p:nvSpPr>
          <p:spPr>
            <a:xfrm rot="19906743" flipV="1">
              <a:off x="11418977" y="5851882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Diagonal Stripe 33">
            <a:extLst>
              <a:ext uri="{FF2B5EF4-FFF2-40B4-BE49-F238E27FC236}">
                <a16:creationId xmlns:a16="http://schemas.microsoft.com/office/drawing/2014/main" id="{DBC811D1-03C8-4F51-A0B5-174F7F2B4A8C}"/>
              </a:ext>
            </a:extLst>
          </p:cNvPr>
          <p:cNvSpPr/>
          <p:nvPr/>
        </p:nvSpPr>
        <p:spPr>
          <a:xfrm rot="3043583">
            <a:off x="4219405" y="3400131"/>
            <a:ext cx="5650450" cy="6888587"/>
          </a:xfrm>
          <a:prstGeom prst="diagStripe">
            <a:avLst>
              <a:gd name="adj" fmla="val 96760"/>
            </a:avLst>
          </a:prstGeom>
          <a:solidFill>
            <a:srgbClr val="9CD4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Diagonal Stripe 37">
            <a:extLst>
              <a:ext uri="{FF2B5EF4-FFF2-40B4-BE49-F238E27FC236}">
                <a16:creationId xmlns:a16="http://schemas.microsoft.com/office/drawing/2014/main" id="{2D50C728-F09F-4825-AF05-5101E40A5B36}"/>
              </a:ext>
            </a:extLst>
          </p:cNvPr>
          <p:cNvSpPr/>
          <p:nvPr/>
        </p:nvSpPr>
        <p:spPr>
          <a:xfrm rot="18561219" flipV="1">
            <a:off x="4263276" y="-3434281"/>
            <a:ext cx="5650450" cy="6888587"/>
          </a:xfrm>
          <a:prstGeom prst="diagStripe">
            <a:avLst>
              <a:gd name="adj" fmla="val 97163"/>
            </a:avLst>
          </a:prstGeom>
          <a:solidFill>
            <a:srgbClr val="9CD48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itle 67">
            <a:extLst>
              <a:ext uri="{FF2B5EF4-FFF2-40B4-BE49-F238E27FC236}">
                <a16:creationId xmlns:a16="http://schemas.microsoft.com/office/drawing/2014/main" id="{E72B7F44-B497-4401-B504-0F7CB5346922}"/>
              </a:ext>
            </a:extLst>
          </p:cNvPr>
          <p:cNvSpPr txBox="1">
            <a:spLocks/>
          </p:cNvSpPr>
          <p:nvPr/>
        </p:nvSpPr>
        <p:spPr>
          <a:xfrm>
            <a:off x="2723367" y="2883743"/>
            <a:ext cx="8366836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Embedded Servers</a:t>
            </a:r>
          </a:p>
        </p:txBody>
      </p:sp>
    </p:spTree>
    <p:extLst>
      <p:ext uri="{BB962C8B-B14F-4D97-AF65-F5344CB8AC3E}">
        <p14:creationId xmlns:p14="http://schemas.microsoft.com/office/powerpoint/2010/main" val="221862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0">
            <a:extLst>
              <a:ext uri="{FF2B5EF4-FFF2-40B4-BE49-F238E27FC236}">
                <a16:creationId xmlns:a16="http://schemas.microsoft.com/office/drawing/2014/main" id="{69005C8F-1414-438C-B256-18DE3E3E4618}"/>
              </a:ext>
            </a:extLst>
          </p:cNvPr>
          <p:cNvSpPr/>
          <p:nvPr/>
        </p:nvSpPr>
        <p:spPr>
          <a:xfrm flipV="1">
            <a:off x="3188117" y="4335057"/>
            <a:ext cx="1484782" cy="1716997"/>
          </a:xfrm>
          <a:prstGeom prst="swooshArrow">
            <a:avLst>
              <a:gd name="adj1" fmla="val 25791"/>
              <a:gd name="adj2" fmla="val 31241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/>
                <a:t>1</a:t>
              </a:r>
            </a:p>
          </p:txBody>
        </p:sp>
      </p:grpSp>
      <p:sp>
        <p:nvSpPr>
          <p:cNvPr id="17" name="Shape 16">
            <a:extLst>
              <a:ext uri="{FF2B5EF4-FFF2-40B4-BE49-F238E27FC236}">
                <a16:creationId xmlns:a16="http://schemas.microsoft.com/office/drawing/2014/main" id="{3563E47F-D8CD-4231-809D-E33832049446}"/>
              </a:ext>
            </a:extLst>
          </p:cNvPr>
          <p:cNvSpPr/>
          <p:nvPr/>
        </p:nvSpPr>
        <p:spPr>
          <a:xfrm>
            <a:off x="3167836" y="1877567"/>
            <a:ext cx="1716465" cy="1623724"/>
          </a:xfrm>
          <a:prstGeom prst="swooshArrow">
            <a:avLst>
              <a:gd name="adj1" fmla="val 19134"/>
              <a:gd name="adj2" fmla="val 28085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2</a:t>
            </a:fld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757C5FE-8AEB-49AF-BC63-3535A27D5A27}"/>
              </a:ext>
            </a:extLst>
          </p:cNvPr>
          <p:cNvGrpSpPr/>
          <p:nvPr/>
        </p:nvGrpSpPr>
        <p:grpSpPr>
          <a:xfrm>
            <a:off x="2556001" y="3578402"/>
            <a:ext cx="1393371" cy="1017426"/>
            <a:chOff x="6705600" y="3312228"/>
            <a:chExt cx="1393371" cy="1017426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5C131BF-D62B-49D2-9494-211AA2FB5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6B036C4-638A-487D-8F57-8DADCDEB752A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651701-C5E1-4F9C-B510-C794DBB12988}"/>
              </a:ext>
            </a:extLst>
          </p:cNvPr>
          <p:cNvGrpSpPr/>
          <p:nvPr/>
        </p:nvGrpSpPr>
        <p:grpSpPr>
          <a:xfrm>
            <a:off x="4352339" y="5064663"/>
            <a:ext cx="1716465" cy="1311869"/>
            <a:chOff x="4478721" y="3655943"/>
            <a:chExt cx="1716465" cy="131186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24C7F48-31CC-4F43-8B3C-F5463B6C6A2E}"/>
                </a:ext>
              </a:extLst>
            </p:cNvPr>
            <p:cNvGrpSpPr/>
            <p:nvPr/>
          </p:nvGrpSpPr>
          <p:grpSpPr>
            <a:xfrm>
              <a:off x="4761626" y="3655943"/>
              <a:ext cx="1024660" cy="967893"/>
              <a:chOff x="6048375" y="3520092"/>
              <a:chExt cx="1024660" cy="967893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F51AAD2-AAB1-43B9-AF24-22EBD5AA29F8}"/>
                  </a:ext>
                </a:extLst>
              </p:cNvPr>
              <p:cNvSpPr/>
              <p:nvPr/>
            </p:nvSpPr>
            <p:spPr>
              <a:xfrm rot="2169859">
                <a:off x="6242429" y="3520092"/>
                <a:ext cx="652492" cy="951549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4B51A2A5-FCBF-4258-AC84-760392AF62C4}"/>
                  </a:ext>
                </a:extLst>
              </p:cNvPr>
              <p:cNvSpPr/>
              <p:nvPr/>
            </p:nvSpPr>
            <p:spPr>
              <a:xfrm rot="19385089">
                <a:off x="6236790" y="3536436"/>
                <a:ext cx="652492" cy="951549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65B5F631-3786-44BC-B604-1E29531D52A7}"/>
                  </a:ext>
                </a:extLst>
              </p:cNvPr>
              <p:cNvSpPr/>
              <p:nvPr/>
            </p:nvSpPr>
            <p:spPr>
              <a:xfrm rot="5400000">
                <a:off x="6260483" y="3483223"/>
                <a:ext cx="600444" cy="102466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2351FAF-DF84-431A-96C0-482336EB6369}"/>
                  </a:ext>
                </a:extLst>
              </p:cNvPr>
              <p:cNvSpPr/>
              <p:nvPr/>
            </p:nvSpPr>
            <p:spPr>
              <a:xfrm>
                <a:off x="6468909" y="3895787"/>
                <a:ext cx="199532" cy="1995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456EFA5-BBD5-4804-8B6F-B9305175D1A0}"/>
                </a:ext>
              </a:extLst>
            </p:cNvPr>
            <p:cNvSpPr txBox="1"/>
            <p:nvPr/>
          </p:nvSpPr>
          <p:spPr>
            <a:xfrm>
              <a:off x="4478721" y="4598480"/>
              <a:ext cx="1716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Webflux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DD75B98-55FC-41BA-AB51-307B4FA559E8}"/>
              </a:ext>
            </a:extLst>
          </p:cNvPr>
          <p:cNvSpPr/>
          <p:nvPr/>
        </p:nvSpPr>
        <p:spPr>
          <a:xfrm>
            <a:off x="4276725" y="1704975"/>
            <a:ext cx="1819275" cy="506021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D9FDCD-24B6-432E-9A99-292DFFC124AC}"/>
              </a:ext>
            </a:extLst>
          </p:cNvPr>
          <p:cNvGrpSpPr/>
          <p:nvPr/>
        </p:nvGrpSpPr>
        <p:grpSpPr>
          <a:xfrm>
            <a:off x="8283429" y="1704975"/>
            <a:ext cx="1262805" cy="1094664"/>
            <a:chOff x="8266536" y="1743863"/>
            <a:chExt cx="1262805" cy="109466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BA12CB1-8F9D-432B-8CA6-6CD795D62ABB}"/>
                </a:ext>
              </a:extLst>
            </p:cNvPr>
            <p:cNvSpPr/>
            <p:nvPr/>
          </p:nvSpPr>
          <p:spPr>
            <a:xfrm>
              <a:off x="8266536" y="1743863"/>
              <a:ext cx="1094664" cy="1094664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641AA6B4-EE76-475A-92A1-ECC774CFBD4C}"/>
                </a:ext>
              </a:extLst>
            </p:cNvPr>
            <p:cNvPicPr/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23371" r="79113">
                          <a14:backgroundMark x1="72327" y1="37107" x2="72327" y2="37107"/>
                          <a14:backgroundMark x1="31447" y1="29560" x2="31447" y2="29560"/>
                          <a14:backgroundMark x1="29560" y1="54088" x2="29560" y2="54088"/>
                          <a14:backgroundMark x1="53774" y1="61635" x2="53774" y2="61635"/>
                          <a14:backgroundMark x1="73270" y1="59748" x2="73270" y2="59748"/>
                        </a14:backgroundRemoval>
                      </a14:imgEffect>
                    </a14:imgLayer>
                  </a14:imgProps>
                </a:ext>
              </a:extLst>
            </a:blip>
            <a:srcRect l="16404" r="13919"/>
            <a:stretch/>
          </p:blipFill>
          <p:spPr>
            <a:xfrm>
              <a:off x="8433447" y="2036420"/>
              <a:ext cx="710088" cy="5095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CE98BDA-C650-46F0-BDC1-33937C7D5FF9}"/>
                </a:ext>
              </a:extLst>
            </p:cNvPr>
            <p:cNvSpPr txBox="1"/>
            <p:nvPr/>
          </p:nvSpPr>
          <p:spPr>
            <a:xfrm>
              <a:off x="8329116" y="2320431"/>
              <a:ext cx="12002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>
                  <a:solidFill>
                    <a:srgbClr val="014B3B"/>
                  </a:solidFill>
                </a:rPr>
                <a:t>Apache Tomcat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83859E7-6480-4065-9C34-4B39CB830FB6}"/>
              </a:ext>
            </a:extLst>
          </p:cNvPr>
          <p:cNvGrpSpPr/>
          <p:nvPr/>
        </p:nvGrpSpPr>
        <p:grpSpPr>
          <a:xfrm>
            <a:off x="8283429" y="3040578"/>
            <a:ext cx="1094664" cy="1078149"/>
            <a:chOff x="8080714" y="3276387"/>
            <a:chExt cx="1094664" cy="1078149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319F1E8-E8F7-498D-8F04-A24B14024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043" b="89894" l="2287" r="98780">
                          <a14:foregroundMark x1="78049" y1="40426" x2="78049" y2="40426"/>
                          <a14:foregroundMark x1="76372" y1="60106" x2="76372" y2="60106"/>
                          <a14:foregroundMark x1="91159" y1="47872" x2="91159" y2="4787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175691" y="3697096"/>
              <a:ext cx="868838" cy="245240"/>
            </a:xfrm>
            <a:prstGeom prst="rect">
              <a:avLst/>
            </a:prstGeom>
          </p:spPr>
        </p:pic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873116F-B6CE-4E2F-A924-4686F3C7BA1B}"/>
                </a:ext>
              </a:extLst>
            </p:cNvPr>
            <p:cNvSpPr/>
            <p:nvPr/>
          </p:nvSpPr>
          <p:spPr>
            <a:xfrm>
              <a:off x="8080714" y="3276387"/>
              <a:ext cx="1094664" cy="1078149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16EC174-196F-4049-B224-F98FBC35B5C7}"/>
              </a:ext>
            </a:extLst>
          </p:cNvPr>
          <p:cNvGrpSpPr/>
          <p:nvPr/>
        </p:nvGrpSpPr>
        <p:grpSpPr>
          <a:xfrm>
            <a:off x="8283429" y="4359666"/>
            <a:ext cx="1094664" cy="1078149"/>
            <a:chOff x="8302821" y="4226496"/>
            <a:chExt cx="1094664" cy="1078149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EBBCCDB-338D-4106-AD52-33DA8CB09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0" b="100000" l="0" r="99798">
                          <a14:foregroundMark x1="30303" y1="41935" x2="30303" y2="41935"/>
                          <a14:foregroundMark x1="23232" y1="38710" x2="23232" y2="38710"/>
                          <a14:foregroundMark x1="34343" y1="48790" x2="34343" y2="48790"/>
                          <a14:foregroundMark x1="72525" y1="39113" x2="72525" y2="39113"/>
                          <a14:foregroundMark x1="73131" y1="22177" x2="73131" y2="22177"/>
                          <a14:foregroundMark x1="73333" y1="19758" x2="73333" y2="19758"/>
                          <a14:foregroundMark x1="67071" y1="30242" x2="67071" y2="30242"/>
                          <a14:foregroundMark x1="67071" y1="37903" x2="67071" y2="37903"/>
                          <a14:foregroundMark x1="66263" y1="44758" x2="66263" y2="44758"/>
                          <a14:foregroundMark x1="64848" y1="51613" x2="64848" y2="51613"/>
                          <a14:foregroundMark x1="61616" y1="58065" x2="61414" y2="59274"/>
                          <a14:foregroundMark x1="17374" y1="45565" x2="17374" y2="45565"/>
                          <a14:foregroundMark x1="15960" y1="46371" x2="15960" y2="46371"/>
                          <a14:foregroundMark x1="2424" y1="80645" x2="2424" y2="80645"/>
                          <a14:foregroundMark x1="2020" y1="89516" x2="2020" y2="89516"/>
                          <a14:foregroundMark x1="9697" y1="91935" x2="9697" y2="91935"/>
                          <a14:foregroundMark x1="15556" y1="81855" x2="15556" y2="81855"/>
                          <a14:foregroundMark x1="29495" y1="81048" x2="29495" y2="81048"/>
                          <a14:foregroundMark x1="42626" y1="81855" x2="42626" y2="81855"/>
                          <a14:foregroundMark x1="53939" y1="83468" x2="53939" y2="83468"/>
                          <a14:foregroundMark x1="63030" y1="81855" x2="63030" y2="81855"/>
                          <a14:foregroundMark x1="71515" y1="83468" x2="71515" y2="83468"/>
                          <a14:foregroundMark x1="84646" y1="85484" x2="84646" y2="85484"/>
                          <a14:foregroundMark x1="21616" y1="40323" x2="21616" y2="40323"/>
                          <a14:foregroundMark x1="22222" y1="39516" x2="22222" y2="39516"/>
                          <a14:foregroundMark x1="23434" y1="44355" x2="23434" y2="44355"/>
                          <a14:foregroundMark x1="66869" y1="29032" x2="66869" y2="29032"/>
                          <a14:foregroundMark x1="15152" y1="47177" x2="15152" y2="47177"/>
                          <a14:foregroundMark x1="73535" y1="18145" x2="73535" y2="1814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08319" y="4536298"/>
              <a:ext cx="847788" cy="424750"/>
            </a:xfrm>
            <a:prstGeom prst="rect">
              <a:avLst/>
            </a:prstGeom>
          </p:spPr>
        </p:pic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B207676-F88D-4743-B2EB-B3E8CAF3CC98}"/>
                </a:ext>
              </a:extLst>
            </p:cNvPr>
            <p:cNvSpPr/>
            <p:nvPr/>
          </p:nvSpPr>
          <p:spPr>
            <a:xfrm>
              <a:off x="8302821" y="4226496"/>
              <a:ext cx="1094664" cy="1078149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CB7FFD1-020D-4DA8-B676-904008EFE8E3}"/>
              </a:ext>
            </a:extLst>
          </p:cNvPr>
          <p:cNvGrpSpPr/>
          <p:nvPr/>
        </p:nvGrpSpPr>
        <p:grpSpPr>
          <a:xfrm>
            <a:off x="8283429" y="5678753"/>
            <a:ext cx="1094664" cy="1078149"/>
            <a:chOff x="8427406" y="5663684"/>
            <a:chExt cx="1094664" cy="1078149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A20443D8-7853-4F7B-B815-958CDE32C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3175" b="96032" l="1636" r="98569">
                          <a14:foregroundMark x1="46830" y1="49206" x2="46830" y2="49206"/>
                          <a14:foregroundMark x1="47239" y1="46825" x2="47239" y2="46825"/>
                          <a14:foregroundMark x1="47444" y1="39683" x2="47444" y2="39683"/>
                          <a14:foregroundMark x1="47035" y1="30952" x2="47035" y2="30952"/>
                          <a14:foregroundMark x1="47444" y1="33333" x2="47444" y2="33333"/>
                          <a14:foregroundMark x1="50102" y1="23810" x2="50102" y2="23810"/>
                          <a14:foregroundMark x1="50307" y1="26984" x2="50307" y2="26984"/>
                          <a14:foregroundMark x1="50307" y1="30556" x2="50307" y2="30556"/>
                          <a14:foregroundMark x1="50307" y1="33730" x2="50307" y2="34524"/>
                          <a14:foregroundMark x1="50102" y1="37302" x2="50102" y2="37302"/>
                          <a14:foregroundMark x1="49693" y1="40873" x2="49693" y2="40873"/>
                          <a14:foregroundMark x1="48057" y1="51587" x2="48057" y2="51984"/>
                          <a14:foregroundMark x1="51534" y1="62698" x2="51534" y2="62698"/>
                          <a14:foregroundMark x1="58691" y1="74603" x2="58691" y2="74603"/>
                          <a14:foregroundMark x1="65440" y1="67460" x2="65440" y2="67460"/>
                          <a14:foregroundMark x1="71370" y1="83333" x2="71370" y2="83333"/>
                          <a14:foregroundMark x1="77505" y1="74603" x2="77505" y2="74603"/>
                          <a14:foregroundMark x1="82822" y1="72619" x2="82822" y2="72619"/>
                          <a14:foregroundMark x1="92843" y1="82937" x2="92843" y2="8293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7698" y="5977535"/>
              <a:ext cx="874080" cy="450446"/>
            </a:xfrm>
            <a:prstGeom prst="rect">
              <a:avLst/>
            </a:prstGeom>
          </p:spPr>
        </p:pic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81A96A9-5986-4707-B5ED-BB6CD2882506}"/>
                </a:ext>
              </a:extLst>
            </p:cNvPr>
            <p:cNvSpPr/>
            <p:nvPr/>
          </p:nvSpPr>
          <p:spPr>
            <a:xfrm>
              <a:off x="8427406" y="5663684"/>
              <a:ext cx="1094664" cy="1078149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5F9A6C92-25A3-49A1-845B-768092F733A7}"/>
              </a:ext>
            </a:extLst>
          </p:cNvPr>
          <p:cNvSpPr/>
          <p:nvPr/>
        </p:nvSpPr>
        <p:spPr>
          <a:xfrm rot="3353293">
            <a:off x="5999715" y="1334207"/>
            <a:ext cx="5275183" cy="3760101"/>
          </a:xfrm>
          <a:custGeom>
            <a:avLst/>
            <a:gdLst>
              <a:gd name="connsiteX0" fmla="*/ 1088072 w 5275183"/>
              <a:gd name="connsiteY0" fmla="*/ 1356859 h 3760101"/>
              <a:gd name="connsiteX1" fmla="*/ 1899506 w 5275183"/>
              <a:gd name="connsiteY1" fmla="*/ 158907 h 3760101"/>
              <a:gd name="connsiteX2" fmla="*/ 2401867 w 5275183"/>
              <a:gd name="connsiteY2" fmla="*/ 62275 h 3760101"/>
              <a:gd name="connsiteX3" fmla="*/ 5116277 w 5275183"/>
              <a:gd name="connsiteY3" fmla="*/ 1900882 h 3760101"/>
              <a:gd name="connsiteX4" fmla="*/ 5212909 w 5275183"/>
              <a:gd name="connsiteY4" fmla="*/ 2403243 h 3760101"/>
              <a:gd name="connsiteX5" fmla="*/ 4401475 w 5275183"/>
              <a:gd name="connsiteY5" fmla="*/ 3601195 h 3760101"/>
              <a:gd name="connsiteX6" fmla="*/ 3899114 w 5275183"/>
              <a:gd name="connsiteY6" fmla="*/ 3697827 h 3760101"/>
              <a:gd name="connsiteX7" fmla="*/ 1331484 w 5275183"/>
              <a:gd name="connsiteY7" fmla="*/ 1958641 h 3760101"/>
              <a:gd name="connsiteX8" fmla="*/ 1204355 w 5275183"/>
              <a:gd name="connsiteY8" fmla="*/ 2019813 h 3760101"/>
              <a:gd name="connsiteX9" fmla="*/ 0 w 5275183"/>
              <a:gd name="connsiteY9" fmla="*/ 3570162 h 3760101"/>
              <a:gd name="connsiteX10" fmla="*/ 969517 w 5275183"/>
              <a:gd name="connsiteY10" fmla="*/ 1801897 h 3760101"/>
              <a:gd name="connsiteX11" fmla="*/ 1066209 w 5275183"/>
              <a:gd name="connsiteY11" fmla="*/ 1722258 h 3760101"/>
              <a:gd name="connsiteX12" fmla="*/ 1051899 w 5275183"/>
              <a:gd name="connsiteY12" fmla="*/ 1694647 h 3760101"/>
              <a:gd name="connsiteX13" fmla="*/ 1088072 w 5275183"/>
              <a:gd name="connsiteY13" fmla="*/ 1356859 h 3760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75183" h="3760101">
                <a:moveTo>
                  <a:pt x="1088072" y="1356859"/>
                </a:moveTo>
                <a:lnTo>
                  <a:pt x="1899506" y="158907"/>
                </a:lnTo>
                <a:cubicBezTo>
                  <a:pt x="2011545" y="-6501"/>
                  <a:pt x="2236459" y="-49765"/>
                  <a:pt x="2401867" y="62275"/>
                </a:cubicBezTo>
                <a:lnTo>
                  <a:pt x="5116277" y="1900882"/>
                </a:lnTo>
                <a:cubicBezTo>
                  <a:pt x="5281684" y="2012921"/>
                  <a:pt x="5324948" y="2237835"/>
                  <a:pt x="5212909" y="2403243"/>
                </a:cubicBezTo>
                <a:lnTo>
                  <a:pt x="4401475" y="3601195"/>
                </a:lnTo>
                <a:cubicBezTo>
                  <a:pt x="4289436" y="3766603"/>
                  <a:pt x="4064522" y="3809866"/>
                  <a:pt x="3899114" y="3697827"/>
                </a:cubicBezTo>
                <a:lnTo>
                  <a:pt x="1331484" y="1958641"/>
                </a:lnTo>
                <a:lnTo>
                  <a:pt x="1204355" y="2019813"/>
                </a:lnTo>
                <a:cubicBezTo>
                  <a:pt x="695941" y="2289345"/>
                  <a:pt x="294489" y="2806127"/>
                  <a:pt x="0" y="3570162"/>
                </a:cubicBezTo>
                <a:cubicBezTo>
                  <a:pt x="179965" y="2802381"/>
                  <a:pt x="503138" y="2212959"/>
                  <a:pt x="969517" y="1801897"/>
                </a:cubicBezTo>
                <a:lnTo>
                  <a:pt x="1066209" y="1722258"/>
                </a:lnTo>
                <a:lnTo>
                  <a:pt x="1051899" y="1694647"/>
                </a:lnTo>
                <a:cubicBezTo>
                  <a:pt x="1008689" y="1586863"/>
                  <a:pt x="1018048" y="1460239"/>
                  <a:pt x="1088072" y="1356859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  <a:prstDash val="sysDash"/>
          </a:ln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EDCF91C7-6B2C-4C21-8E4D-72535A1C47DD}"/>
              </a:ext>
            </a:extLst>
          </p:cNvPr>
          <p:cNvSpPr/>
          <p:nvPr/>
        </p:nvSpPr>
        <p:spPr>
          <a:xfrm flipV="1">
            <a:off x="5769515" y="1579874"/>
            <a:ext cx="4623092" cy="5278125"/>
          </a:xfrm>
          <a:custGeom>
            <a:avLst/>
            <a:gdLst>
              <a:gd name="connsiteX0" fmla="*/ 2173488 w 4823024"/>
              <a:gd name="connsiteY0" fmla="*/ 5278125 h 5278125"/>
              <a:gd name="connsiteX1" fmla="*/ 4293104 w 4823024"/>
              <a:gd name="connsiteY1" fmla="*/ 5278125 h 5278125"/>
              <a:gd name="connsiteX2" fmla="*/ 4823024 w 4823024"/>
              <a:gd name="connsiteY2" fmla="*/ 4748205 h 5278125"/>
              <a:gd name="connsiteX3" fmla="*/ 4823024 w 4823024"/>
              <a:gd name="connsiteY3" fmla="*/ 529920 h 5278125"/>
              <a:gd name="connsiteX4" fmla="*/ 4293104 w 4823024"/>
              <a:gd name="connsiteY4" fmla="*/ 0 h 5278125"/>
              <a:gd name="connsiteX5" fmla="*/ 2173488 w 4823024"/>
              <a:gd name="connsiteY5" fmla="*/ 0 h 5278125"/>
              <a:gd name="connsiteX6" fmla="*/ 1967219 w 4823024"/>
              <a:gd name="connsiteY6" fmla="*/ 41643 h 5278125"/>
              <a:gd name="connsiteX7" fmla="*/ 1880057 w 4823024"/>
              <a:gd name="connsiteY7" fmla="*/ 88954 h 5278125"/>
              <a:gd name="connsiteX8" fmla="*/ 1832216 w 4823024"/>
              <a:gd name="connsiteY8" fmla="*/ 59069 h 5278125"/>
              <a:gd name="connsiteX9" fmla="*/ 1839283 w 4823024"/>
              <a:gd name="connsiteY9" fmla="*/ 121790 h 5278125"/>
              <a:gd name="connsiteX10" fmla="*/ 1798778 w 4823024"/>
              <a:gd name="connsiteY10" fmla="*/ 155210 h 5278125"/>
              <a:gd name="connsiteX11" fmla="*/ 1742577 w 4823024"/>
              <a:gd name="connsiteY11" fmla="*/ 223326 h 5278125"/>
              <a:gd name="connsiteX12" fmla="*/ 1667930 w 4823024"/>
              <a:gd name="connsiteY12" fmla="*/ 236692 h 5278125"/>
              <a:gd name="connsiteX13" fmla="*/ 0 w 4823024"/>
              <a:gd name="connsiteY13" fmla="*/ 1221277 h 5278125"/>
              <a:gd name="connsiteX14" fmla="*/ 1562132 w 4823024"/>
              <a:gd name="connsiteY14" fmla="*/ 536482 h 5278125"/>
              <a:gd name="connsiteX15" fmla="*/ 1643739 w 4823024"/>
              <a:gd name="connsiteY15" fmla="*/ 528227 h 5278125"/>
              <a:gd name="connsiteX16" fmla="*/ 1643568 w 4823024"/>
              <a:gd name="connsiteY16" fmla="*/ 529920 h 5278125"/>
              <a:gd name="connsiteX17" fmla="*/ 1643568 w 4823024"/>
              <a:gd name="connsiteY17" fmla="*/ 4748205 h 5278125"/>
              <a:gd name="connsiteX18" fmla="*/ 2173488 w 4823024"/>
              <a:gd name="connsiteY18" fmla="*/ 5278125 h 527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823024" h="5278125">
                <a:moveTo>
                  <a:pt x="2173488" y="5278125"/>
                </a:moveTo>
                <a:lnTo>
                  <a:pt x="4293104" y="5278125"/>
                </a:lnTo>
                <a:cubicBezTo>
                  <a:pt x="4585771" y="5278125"/>
                  <a:pt x="4823024" y="5040872"/>
                  <a:pt x="4823024" y="4748205"/>
                </a:cubicBezTo>
                <a:lnTo>
                  <a:pt x="4823024" y="529920"/>
                </a:lnTo>
                <a:cubicBezTo>
                  <a:pt x="4823024" y="237253"/>
                  <a:pt x="4585771" y="0"/>
                  <a:pt x="4293104" y="0"/>
                </a:cubicBezTo>
                <a:lnTo>
                  <a:pt x="2173488" y="0"/>
                </a:lnTo>
                <a:cubicBezTo>
                  <a:pt x="2100322" y="0"/>
                  <a:pt x="2030618" y="14828"/>
                  <a:pt x="1967219" y="41643"/>
                </a:cubicBezTo>
                <a:lnTo>
                  <a:pt x="1880057" y="88954"/>
                </a:lnTo>
                <a:lnTo>
                  <a:pt x="1832216" y="59069"/>
                </a:lnTo>
                <a:lnTo>
                  <a:pt x="1839283" y="121790"/>
                </a:lnTo>
                <a:lnTo>
                  <a:pt x="1798778" y="155210"/>
                </a:lnTo>
                <a:lnTo>
                  <a:pt x="1742577" y="223326"/>
                </a:lnTo>
                <a:lnTo>
                  <a:pt x="1667930" y="236692"/>
                </a:lnTo>
                <a:cubicBezTo>
                  <a:pt x="786359" y="408829"/>
                  <a:pt x="230382" y="737024"/>
                  <a:pt x="0" y="1221277"/>
                </a:cubicBezTo>
                <a:cubicBezTo>
                  <a:pt x="322536" y="859415"/>
                  <a:pt x="843246" y="631149"/>
                  <a:pt x="1562132" y="536482"/>
                </a:cubicBezTo>
                <a:lnTo>
                  <a:pt x="1643739" y="528227"/>
                </a:lnTo>
                <a:lnTo>
                  <a:pt x="1643568" y="529920"/>
                </a:lnTo>
                <a:lnTo>
                  <a:pt x="1643568" y="4748205"/>
                </a:lnTo>
                <a:cubicBezTo>
                  <a:pt x="1643568" y="5040872"/>
                  <a:pt x="1880821" y="5278125"/>
                  <a:pt x="2173488" y="5278125"/>
                </a:cubicBezTo>
                <a:close/>
              </a:path>
            </a:pathLst>
          </a:custGeom>
          <a:noFill/>
          <a:ln w="28575">
            <a:solidFill>
              <a:srgbClr val="7030A0"/>
            </a:solidFill>
            <a:prstDash val="sysDash"/>
          </a:ln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6A43252E-D99D-4A1E-9C66-796B2A6D3CDE}"/>
              </a:ext>
            </a:extLst>
          </p:cNvPr>
          <p:cNvSpPr/>
          <p:nvPr/>
        </p:nvSpPr>
        <p:spPr>
          <a:xfrm>
            <a:off x="7870194" y="1636553"/>
            <a:ext cx="2124706" cy="1236225"/>
          </a:xfrm>
          <a:prstGeom prst="roundRect">
            <a:avLst>
              <a:gd name="adj" fmla="val 29624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6C43F829-2126-4DFB-8F15-8425B4D026C6}"/>
              </a:ext>
            </a:extLst>
          </p:cNvPr>
          <p:cNvSpPr/>
          <p:nvPr/>
        </p:nvSpPr>
        <p:spPr>
          <a:xfrm>
            <a:off x="7345203" y="5621770"/>
            <a:ext cx="3047404" cy="1236225"/>
          </a:xfrm>
          <a:prstGeom prst="roundRect">
            <a:avLst>
              <a:gd name="adj" fmla="val 39897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DD40701-69F8-4E23-AE89-90D916868CF7}"/>
              </a:ext>
            </a:extLst>
          </p:cNvPr>
          <p:cNvGrpSpPr/>
          <p:nvPr/>
        </p:nvGrpSpPr>
        <p:grpSpPr>
          <a:xfrm>
            <a:off x="4717013" y="1733704"/>
            <a:ext cx="1393371" cy="999744"/>
            <a:chOff x="4928479" y="2984070"/>
            <a:chExt cx="1393371" cy="999744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12AF5CBD-F66E-431C-9FAD-292A71326F65}"/>
                </a:ext>
              </a:extLst>
            </p:cNvPr>
            <p:cNvGrpSpPr/>
            <p:nvPr/>
          </p:nvGrpSpPr>
          <p:grpSpPr>
            <a:xfrm>
              <a:off x="5152871" y="2984070"/>
              <a:ext cx="764830" cy="722458"/>
              <a:chOff x="5994980" y="3326052"/>
              <a:chExt cx="1024660" cy="967893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FBA54D9F-AD68-44F6-A26D-11EBA04B41F9}"/>
                  </a:ext>
                </a:extLst>
              </p:cNvPr>
              <p:cNvSpPr/>
              <p:nvPr/>
            </p:nvSpPr>
            <p:spPr>
              <a:xfrm rot="2169859">
                <a:off x="6189034" y="3326052"/>
                <a:ext cx="652492" cy="951549"/>
              </a:xfrm>
              <a:prstGeom prst="ellipse">
                <a:avLst/>
              </a:prstGeom>
              <a:noFill/>
              <a:ln w="28575">
                <a:solidFill>
                  <a:srgbClr val="6EB5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47B166FA-BEC3-4257-8735-1726A97A9AD3}"/>
                  </a:ext>
                </a:extLst>
              </p:cNvPr>
              <p:cNvSpPr/>
              <p:nvPr/>
            </p:nvSpPr>
            <p:spPr>
              <a:xfrm rot="19385089">
                <a:off x="6183395" y="3342396"/>
                <a:ext cx="652492" cy="951549"/>
              </a:xfrm>
              <a:prstGeom prst="ellipse">
                <a:avLst/>
              </a:prstGeom>
              <a:noFill/>
              <a:ln w="28575">
                <a:solidFill>
                  <a:srgbClr val="6EB5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1DF909E3-E57F-4272-8D29-5FBB3C1A6453}"/>
                  </a:ext>
                </a:extLst>
              </p:cNvPr>
              <p:cNvSpPr/>
              <p:nvPr/>
            </p:nvSpPr>
            <p:spPr>
              <a:xfrm rot="5400000">
                <a:off x="6207088" y="3289183"/>
                <a:ext cx="600444" cy="1024660"/>
              </a:xfrm>
              <a:prstGeom prst="ellipse">
                <a:avLst/>
              </a:prstGeom>
              <a:noFill/>
              <a:ln w="28575">
                <a:solidFill>
                  <a:srgbClr val="6EB5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5161D05B-A9CA-4373-879E-5D969A70A0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/>
              <a:srcRect l="32259" t="20199" r="20613" b="23775"/>
              <a:stretch/>
            </p:blipFill>
            <p:spPr>
              <a:xfrm>
                <a:off x="6161353" y="3486362"/>
                <a:ext cx="685574" cy="627534"/>
              </a:xfrm>
              <a:prstGeom prst="ellipse">
                <a:avLst/>
              </a:prstGeom>
              <a:ln>
                <a:solidFill>
                  <a:srgbClr val="6EB53F"/>
                </a:solidFill>
              </a:ln>
            </p:spPr>
          </p:pic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5B88DF4-7935-41CC-9C72-932D15E92E11}"/>
                </a:ext>
              </a:extLst>
            </p:cNvPr>
            <p:cNvSpPr txBox="1"/>
            <p:nvPr/>
          </p:nvSpPr>
          <p:spPr>
            <a:xfrm>
              <a:off x="4928479" y="3614482"/>
              <a:ext cx="13933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Web</a:t>
              </a:r>
            </a:p>
          </p:txBody>
        </p:sp>
      </p:grpSp>
      <p:sp>
        <p:nvSpPr>
          <p:cNvPr id="74" name="Title 67">
            <a:extLst>
              <a:ext uri="{FF2B5EF4-FFF2-40B4-BE49-F238E27FC236}">
                <a16:creationId xmlns:a16="http://schemas.microsoft.com/office/drawing/2014/main" id="{D5DE8429-A41B-40CF-9025-8B1D026FC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Embedded Servers</a:t>
            </a:r>
          </a:p>
        </p:txBody>
      </p:sp>
    </p:spTree>
    <p:extLst>
      <p:ext uri="{BB962C8B-B14F-4D97-AF65-F5344CB8AC3E}">
        <p14:creationId xmlns:p14="http://schemas.microsoft.com/office/powerpoint/2010/main" val="3689183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/>
                <a:t>2a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Concepts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3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D9FDCD-24B6-432E-9A99-292DFFC124AC}"/>
              </a:ext>
            </a:extLst>
          </p:cNvPr>
          <p:cNvGrpSpPr/>
          <p:nvPr/>
        </p:nvGrpSpPr>
        <p:grpSpPr>
          <a:xfrm>
            <a:off x="2824810" y="1823843"/>
            <a:ext cx="1262805" cy="1094664"/>
            <a:chOff x="8266536" y="1743863"/>
            <a:chExt cx="1262805" cy="109466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BA12CB1-8F9D-432B-8CA6-6CD795D62ABB}"/>
                </a:ext>
              </a:extLst>
            </p:cNvPr>
            <p:cNvSpPr/>
            <p:nvPr/>
          </p:nvSpPr>
          <p:spPr>
            <a:xfrm>
              <a:off x="8266536" y="1743863"/>
              <a:ext cx="1094664" cy="1094664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641AA6B4-EE76-475A-92A1-ECC774CFBD4C}"/>
                </a:ext>
              </a:extLst>
            </p:cNvPr>
            <p:cNvPicPr/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23371" r="79113">
                          <a14:backgroundMark x1="72327" y1="37107" x2="72327" y2="37107"/>
                          <a14:backgroundMark x1="31447" y1="29560" x2="31447" y2="29560"/>
                          <a14:backgroundMark x1="29560" y1="54088" x2="29560" y2="54088"/>
                          <a14:backgroundMark x1="53774" y1="61635" x2="53774" y2="61635"/>
                          <a14:backgroundMark x1="73270" y1="59748" x2="73270" y2="59748"/>
                        </a14:backgroundRemoval>
                      </a14:imgEffect>
                    </a14:imgLayer>
                  </a14:imgProps>
                </a:ext>
              </a:extLst>
            </a:blip>
            <a:srcRect l="16404" r="13919"/>
            <a:stretch/>
          </p:blipFill>
          <p:spPr>
            <a:xfrm>
              <a:off x="8433447" y="2036420"/>
              <a:ext cx="710088" cy="5095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CE98BDA-C650-46F0-BDC1-33937C7D5FF9}"/>
                </a:ext>
              </a:extLst>
            </p:cNvPr>
            <p:cNvSpPr txBox="1"/>
            <p:nvPr/>
          </p:nvSpPr>
          <p:spPr>
            <a:xfrm>
              <a:off x="8329116" y="2320431"/>
              <a:ext cx="12002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>
                  <a:solidFill>
                    <a:srgbClr val="014B3B"/>
                  </a:solidFill>
                </a:rPr>
                <a:t>Apache Tomcat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83859E7-6480-4065-9C34-4B39CB830FB6}"/>
              </a:ext>
            </a:extLst>
          </p:cNvPr>
          <p:cNvGrpSpPr/>
          <p:nvPr/>
        </p:nvGrpSpPr>
        <p:grpSpPr>
          <a:xfrm>
            <a:off x="5287557" y="1823843"/>
            <a:ext cx="1094664" cy="1078149"/>
            <a:chOff x="8080714" y="3276387"/>
            <a:chExt cx="1094664" cy="1078149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319F1E8-E8F7-498D-8F04-A24B14024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043" b="89894" l="2287" r="98780">
                          <a14:foregroundMark x1="78049" y1="40426" x2="78049" y2="40426"/>
                          <a14:foregroundMark x1="76372" y1="60106" x2="76372" y2="60106"/>
                          <a14:foregroundMark x1="91159" y1="47872" x2="91159" y2="4787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175691" y="3697096"/>
              <a:ext cx="868838" cy="245240"/>
            </a:xfrm>
            <a:prstGeom prst="rect">
              <a:avLst/>
            </a:prstGeom>
            <a:ln>
              <a:solidFill>
                <a:srgbClr val="F2370D"/>
              </a:solidFill>
            </a:ln>
          </p:spPr>
        </p:pic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873116F-B6CE-4E2F-A924-4686F3C7BA1B}"/>
                </a:ext>
              </a:extLst>
            </p:cNvPr>
            <p:cNvSpPr/>
            <p:nvPr/>
          </p:nvSpPr>
          <p:spPr>
            <a:xfrm>
              <a:off x="8080714" y="3276387"/>
              <a:ext cx="1094664" cy="1078149"/>
            </a:xfrm>
            <a:prstGeom prst="ellipse">
              <a:avLst/>
            </a:prstGeom>
            <a:noFill/>
            <a:ln w="38100">
              <a:solidFill>
                <a:srgbClr val="F237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16EC174-196F-4049-B224-F98FBC35B5C7}"/>
              </a:ext>
            </a:extLst>
          </p:cNvPr>
          <p:cNvGrpSpPr/>
          <p:nvPr/>
        </p:nvGrpSpPr>
        <p:grpSpPr>
          <a:xfrm>
            <a:off x="7582163" y="1823843"/>
            <a:ext cx="1094664" cy="1078149"/>
            <a:chOff x="8302821" y="4226496"/>
            <a:chExt cx="1094664" cy="1078149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EBBCCDB-338D-4106-AD52-33DA8CB09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0" b="100000" l="0" r="99798">
                          <a14:foregroundMark x1="30303" y1="41935" x2="30303" y2="41935"/>
                          <a14:foregroundMark x1="23232" y1="38710" x2="23232" y2="38710"/>
                          <a14:foregroundMark x1="34343" y1="48790" x2="34343" y2="48790"/>
                          <a14:foregroundMark x1="72525" y1="39113" x2="72525" y2="39113"/>
                          <a14:foregroundMark x1="73131" y1="22177" x2="73131" y2="22177"/>
                          <a14:foregroundMark x1="73333" y1="19758" x2="73333" y2="19758"/>
                          <a14:foregroundMark x1="67071" y1="30242" x2="67071" y2="30242"/>
                          <a14:foregroundMark x1="67071" y1="37903" x2="67071" y2="37903"/>
                          <a14:foregroundMark x1="66263" y1="44758" x2="66263" y2="44758"/>
                          <a14:foregroundMark x1="64848" y1="51613" x2="64848" y2="51613"/>
                          <a14:foregroundMark x1="61616" y1="58065" x2="61414" y2="59274"/>
                          <a14:foregroundMark x1="17374" y1="45565" x2="17374" y2="45565"/>
                          <a14:foregroundMark x1="15960" y1="46371" x2="15960" y2="46371"/>
                          <a14:foregroundMark x1="2424" y1="80645" x2="2424" y2="80645"/>
                          <a14:foregroundMark x1="2020" y1="89516" x2="2020" y2="89516"/>
                          <a14:foregroundMark x1="9697" y1="91935" x2="9697" y2="91935"/>
                          <a14:foregroundMark x1="15556" y1="81855" x2="15556" y2="81855"/>
                          <a14:foregroundMark x1="29495" y1="81048" x2="29495" y2="81048"/>
                          <a14:foregroundMark x1="42626" y1="81855" x2="42626" y2="81855"/>
                          <a14:foregroundMark x1="53939" y1="83468" x2="53939" y2="83468"/>
                          <a14:foregroundMark x1="63030" y1="81855" x2="63030" y2="81855"/>
                          <a14:foregroundMark x1="71515" y1="83468" x2="71515" y2="83468"/>
                          <a14:foregroundMark x1="84646" y1="85484" x2="84646" y2="85484"/>
                          <a14:foregroundMark x1="21616" y1="40323" x2="21616" y2="40323"/>
                          <a14:foregroundMark x1="22222" y1="39516" x2="22222" y2="39516"/>
                          <a14:foregroundMark x1="23434" y1="44355" x2="23434" y2="44355"/>
                          <a14:foregroundMark x1="66869" y1="29032" x2="66869" y2="29032"/>
                          <a14:foregroundMark x1="15152" y1="47177" x2="15152" y2="47177"/>
                          <a14:foregroundMark x1="73535" y1="18145" x2="73535" y2="1814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08319" y="4536298"/>
              <a:ext cx="847788" cy="424750"/>
            </a:xfrm>
            <a:prstGeom prst="rect">
              <a:avLst/>
            </a:prstGeom>
            <a:ln>
              <a:solidFill>
                <a:srgbClr val="909696"/>
              </a:solidFill>
            </a:ln>
          </p:spPr>
        </p:pic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B207676-F88D-4743-B2EB-B3E8CAF3CC98}"/>
                </a:ext>
              </a:extLst>
            </p:cNvPr>
            <p:cNvSpPr/>
            <p:nvPr/>
          </p:nvSpPr>
          <p:spPr>
            <a:xfrm>
              <a:off x="8302821" y="4226496"/>
              <a:ext cx="1094664" cy="1078149"/>
            </a:xfrm>
            <a:prstGeom prst="ellipse">
              <a:avLst/>
            </a:prstGeom>
            <a:noFill/>
            <a:ln w="38100">
              <a:solidFill>
                <a:srgbClr val="9096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CB7FFD1-020D-4DA8-B676-904008EFE8E3}"/>
              </a:ext>
            </a:extLst>
          </p:cNvPr>
          <p:cNvGrpSpPr/>
          <p:nvPr/>
        </p:nvGrpSpPr>
        <p:grpSpPr>
          <a:xfrm>
            <a:off x="9876772" y="1823843"/>
            <a:ext cx="1094664" cy="1078149"/>
            <a:chOff x="8427406" y="5663684"/>
            <a:chExt cx="1094664" cy="1078149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A20443D8-7853-4F7B-B815-958CDE32C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3175" b="96032" l="1636" r="98569">
                          <a14:foregroundMark x1="46830" y1="49206" x2="46830" y2="49206"/>
                          <a14:foregroundMark x1="47239" y1="46825" x2="47239" y2="46825"/>
                          <a14:foregroundMark x1="47444" y1="39683" x2="47444" y2="39683"/>
                          <a14:foregroundMark x1="47035" y1="30952" x2="47035" y2="30952"/>
                          <a14:foregroundMark x1="47444" y1="33333" x2="47444" y2="33333"/>
                          <a14:foregroundMark x1="50102" y1="23810" x2="50102" y2="23810"/>
                          <a14:foregroundMark x1="50307" y1="26984" x2="50307" y2="26984"/>
                          <a14:foregroundMark x1="50307" y1="30556" x2="50307" y2="30556"/>
                          <a14:foregroundMark x1="50307" y1="33730" x2="50307" y2="34524"/>
                          <a14:foregroundMark x1="50102" y1="37302" x2="50102" y2="37302"/>
                          <a14:foregroundMark x1="49693" y1="40873" x2="49693" y2="40873"/>
                          <a14:foregroundMark x1="48057" y1="51587" x2="48057" y2="51984"/>
                          <a14:foregroundMark x1="51534" y1="62698" x2="51534" y2="62698"/>
                          <a14:foregroundMark x1="58691" y1="74603" x2="58691" y2="74603"/>
                          <a14:foregroundMark x1="65440" y1="67460" x2="65440" y2="67460"/>
                          <a14:foregroundMark x1="71370" y1="83333" x2="71370" y2="83333"/>
                          <a14:foregroundMark x1="77505" y1="74603" x2="77505" y2="74603"/>
                          <a14:foregroundMark x1="82822" y1="72619" x2="82822" y2="72619"/>
                          <a14:foregroundMark x1="92843" y1="82937" x2="92843" y2="8293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7698" y="5977535"/>
              <a:ext cx="874080" cy="450446"/>
            </a:xfrm>
            <a:prstGeom prst="rect">
              <a:avLst/>
            </a:prstGeom>
            <a:ln>
              <a:solidFill>
                <a:srgbClr val="4D5666"/>
              </a:solidFill>
            </a:ln>
          </p:spPr>
        </p:pic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81A96A9-5986-4707-B5ED-BB6CD2882506}"/>
                </a:ext>
              </a:extLst>
            </p:cNvPr>
            <p:cNvSpPr/>
            <p:nvPr/>
          </p:nvSpPr>
          <p:spPr>
            <a:xfrm>
              <a:off x="8427406" y="5663684"/>
              <a:ext cx="1094664" cy="1078149"/>
            </a:xfrm>
            <a:prstGeom prst="ellipse">
              <a:avLst/>
            </a:prstGeom>
            <a:noFill/>
            <a:ln w="38100">
              <a:solidFill>
                <a:srgbClr val="4D56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A66DBBE-B849-4E8E-93C2-A806D057A74E}"/>
              </a:ext>
            </a:extLst>
          </p:cNvPr>
          <p:cNvCxnSpPr>
            <a:cxnSpLocks/>
          </p:cNvCxnSpPr>
          <p:nvPr/>
        </p:nvCxnSpPr>
        <p:spPr>
          <a:xfrm>
            <a:off x="4687586" y="1536496"/>
            <a:ext cx="0" cy="5166339"/>
          </a:xfrm>
          <a:prstGeom prst="line">
            <a:avLst/>
          </a:prstGeom>
          <a:ln>
            <a:solidFill>
              <a:srgbClr val="F2370D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1C38E38-7C3A-453B-A151-BCB54B274C5E}"/>
              </a:ext>
            </a:extLst>
          </p:cNvPr>
          <p:cNvCxnSpPr>
            <a:cxnSpLocks/>
          </p:cNvCxnSpPr>
          <p:nvPr/>
        </p:nvCxnSpPr>
        <p:spPr>
          <a:xfrm>
            <a:off x="6982192" y="1536496"/>
            <a:ext cx="0" cy="5166339"/>
          </a:xfrm>
          <a:prstGeom prst="line">
            <a:avLst/>
          </a:prstGeom>
          <a:ln>
            <a:solidFill>
              <a:srgbClr val="818C98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95DA1C4-9A6A-437C-BF50-9E1CF15B6F6C}"/>
              </a:ext>
            </a:extLst>
          </p:cNvPr>
          <p:cNvCxnSpPr>
            <a:cxnSpLocks/>
          </p:cNvCxnSpPr>
          <p:nvPr/>
        </p:nvCxnSpPr>
        <p:spPr>
          <a:xfrm>
            <a:off x="9276798" y="1536496"/>
            <a:ext cx="0" cy="5166339"/>
          </a:xfrm>
          <a:prstGeom prst="line">
            <a:avLst/>
          </a:prstGeom>
          <a:ln>
            <a:solidFill>
              <a:srgbClr val="4A5566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F624E06-BB43-4CB0-96C0-4753B9926A6F}"/>
              </a:ext>
            </a:extLst>
          </p:cNvPr>
          <p:cNvSpPr txBox="1"/>
          <p:nvPr/>
        </p:nvSpPr>
        <p:spPr>
          <a:xfrm>
            <a:off x="2513286" y="3211064"/>
            <a:ext cx="218505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HTTP/Web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/>
                </a:solidFill>
                <a:hlinkClick r:id="rId11" action="ppaction://hlinksldjump"/>
              </a:rPr>
              <a:t>Java Servlet Conatiner</a:t>
            </a:r>
            <a:endParaRPr lang="en-US" sz="1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Opensource(Apache License). Foundation Apache Software foundation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Implement from JSP and Java Servlet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Java-base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C612B0A-C3DD-4B35-8ED7-D00DADA5B167}"/>
              </a:ext>
            </a:extLst>
          </p:cNvPr>
          <p:cNvSpPr txBox="1"/>
          <p:nvPr/>
        </p:nvSpPr>
        <p:spPr>
          <a:xfrm>
            <a:off x="4723218" y="3211064"/>
            <a:ext cx="218505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2370D"/>
                </a:solidFill>
              </a:rPr>
              <a:t>HTTP/Web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F2370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2370D"/>
                </a:solidFill>
                <a:hlinkClick r:id="rId11" action="ppaction://hlinksldjump"/>
              </a:rPr>
              <a:t>Java Servlet Container</a:t>
            </a:r>
            <a:endParaRPr lang="en-US" sz="1400">
              <a:solidFill>
                <a:srgbClr val="F2370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F2370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2370D"/>
                </a:solidFill>
              </a:rPr>
              <a:t>Open Source(Apache/ Eclipse License)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F2370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2370D"/>
                </a:solidFill>
              </a:rPr>
              <a:t>Java-based.</a:t>
            </a:r>
          </a:p>
          <a:p>
            <a:endParaRPr lang="en-US" sz="1400">
              <a:solidFill>
                <a:srgbClr val="F2370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F2370D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3DA2C9-BD6C-446E-94CA-2416D4C7BB50}"/>
              </a:ext>
            </a:extLst>
          </p:cNvPr>
          <p:cNvSpPr txBox="1"/>
          <p:nvPr/>
        </p:nvSpPr>
        <p:spPr>
          <a:xfrm>
            <a:off x="7030092" y="3211064"/>
            <a:ext cx="218505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14356"/>
                </a:solidFill>
              </a:rPr>
              <a:t>HTTP/Web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31435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14356"/>
                </a:solidFill>
              </a:rPr>
              <a:t>Java-based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31435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14356"/>
                </a:solidFill>
              </a:rPr>
              <a:t>Providing both blocking and non-blocking API’s</a:t>
            </a:r>
          </a:p>
          <a:p>
            <a:endParaRPr lang="en-US" sz="1400">
              <a:solidFill>
                <a:srgbClr val="31435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14356"/>
                </a:solidFill>
              </a:rPr>
              <a:t>Opensource(Apache License). It is sponsored by Jboss.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31435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31435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31435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314356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842AB5-E3DA-48C8-B637-1A2E7D0FBEF4}"/>
              </a:ext>
            </a:extLst>
          </p:cNvPr>
          <p:cNvSpPr txBox="1"/>
          <p:nvPr/>
        </p:nvSpPr>
        <p:spPr>
          <a:xfrm>
            <a:off x="9293309" y="3188119"/>
            <a:ext cx="21850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4D586A"/>
                </a:solidFill>
              </a:rPr>
              <a:t> A NIO client server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4D586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4D586A"/>
                </a:solidFill>
              </a:rPr>
              <a:t>Enables quick and easy development of network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4D586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4D586A"/>
                </a:solidFill>
              </a:rPr>
              <a:t>Greatly simplifies and program streamlines networking such as TCP and UDP socket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4D58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56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/>
                <a:t>2b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Advantages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4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D9FDCD-24B6-432E-9A99-292DFFC124AC}"/>
              </a:ext>
            </a:extLst>
          </p:cNvPr>
          <p:cNvGrpSpPr/>
          <p:nvPr/>
        </p:nvGrpSpPr>
        <p:grpSpPr>
          <a:xfrm>
            <a:off x="2824810" y="1823843"/>
            <a:ext cx="1262805" cy="1094664"/>
            <a:chOff x="8266536" y="1743863"/>
            <a:chExt cx="1262805" cy="109466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BA12CB1-8F9D-432B-8CA6-6CD795D62ABB}"/>
                </a:ext>
              </a:extLst>
            </p:cNvPr>
            <p:cNvSpPr/>
            <p:nvPr/>
          </p:nvSpPr>
          <p:spPr>
            <a:xfrm>
              <a:off x="8266536" y="1743863"/>
              <a:ext cx="1094664" cy="1094664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641AA6B4-EE76-475A-92A1-ECC774CFBD4C}"/>
                </a:ext>
              </a:extLst>
            </p:cNvPr>
            <p:cNvPicPr/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23371" r="79113">
                          <a14:backgroundMark x1="72327" y1="37107" x2="72327" y2="37107"/>
                          <a14:backgroundMark x1="31447" y1="29560" x2="31447" y2="29560"/>
                          <a14:backgroundMark x1="29560" y1="54088" x2="29560" y2="54088"/>
                          <a14:backgroundMark x1="53774" y1="61635" x2="53774" y2="61635"/>
                          <a14:backgroundMark x1="73270" y1="59748" x2="73270" y2="59748"/>
                        </a14:backgroundRemoval>
                      </a14:imgEffect>
                    </a14:imgLayer>
                  </a14:imgProps>
                </a:ext>
              </a:extLst>
            </a:blip>
            <a:srcRect l="16404" r="13919"/>
            <a:stretch/>
          </p:blipFill>
          <p:spPr>
            <a:xfrm>
              <a:off x="8433447" y="2036420"/>
              <a:ext cx="710088" cy="50955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CE98BDA-C650-46F0-BDC1-33937C7D5FF9}"/>
                </a:ext>
              </a:extLst>
            </p:cNvPr>
            <p:cNvSpPr txBox="1"/>
            <p:nvPr/>
          </p:nvSpPr>
          <p:spPr>
            <a:xfrm>
              <a:off x="8329116" y="2320431"/>
              <a:ext cx="12002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>
                  <a:solidFill>
                    <a:srgbClr val="014B3B"/>
                  </a:solidFill>
                </a:rPr>
                <a:t>Apache Tomcat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83859E7-6480-4065-9C34-4B39CB830FB6}"/>
              </a:ext>
            </a:extLst>
          </p:cNvPr>
          <p:cNvGrpSpPr/>
          <p:nvPr/>
        </p:nvGrpSpPr>
        <p:grpSpPr>
          <a:xfrm>
            <a:off x="5287557" y="1823843"/>
            <a:ext cx="1094664" cy="1078149"/>
            <a:chOff x="8080714" y="3276387"/>
            <a:chExt cx="1094664" cy="1078149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319F1E8-E8F7-498D-8F04-A24B14024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043" b="89894" l="2287" r="98780">
                          <a14:foregroundMark x1="78049" y1="40426" x2="78049" y2="40426"/>
                          <a14:foregroundMark x1="76372" y1="60106" x2="76372" y2="60106"/>
                          <a14:foregroundMark x1="91159" y1="47872" x2="91159" y2="4787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175691" y="3697096"/>
              <a:ext cx="868838" cy="245240"/>
            </a:xfrm>
            <a:prstGeom prst="rect">
              <a:avLst/>
            </a:prstGeom>
            <a:ln>
              <a:solidFill>
                <a:srgbClr val="F2370D"/>
              </a:solidFill>
            </a:ln>
          </p:spPr>
        </p:pic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873116F-B6CE-4E2F-A924-4686F3C7BA1B}"/>
                </a:ext>
              </a:extLst>
            </p:cNvPr>
            <p:cNvSpPr/>
            <p:nvPr/>
          </p:nvSpPr>
          <p:spPr>
            <a:xfrm>
              <a:off x="8080714" y="3276387"/>
              <a:ext cx="1094664" cy="1078149"/>
            </a:xfrm>
            <a:prstGeom prst="ellipse">
              <a:avLst/>
            </a:prstGeom>
            <a:noFill/>
            <a:ln w="38100">
              <a:solidFill>
                <a:srgbClr val="F237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16EC174-196F-4049-B224-F98FBC35B5C7}"/>
              </a:ext>
            </a:extLst>
          </p:cNvPr>
          <p:cNvGrpSpPr/>
          <p:nvPr/>
        </p:nvGrpSpPr>
        <p:grpSpPr>
          <a:xfrm>
            <a:off x="7582163" y="1823843"/>
            <a:ext cx="1094664" cy="1078149"/>
            <a:chOff x="8302821" y="4226496"/>
            <a:chExt cx="1094664" cy="1078149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EBBCCDB-338D-4106-AD52-33DA8CB09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0" b="100000" l="0" r="99798">
                          <a14:foregroundMark x1="30303" y1="41935" x2="30303" y2="41935"/>
                          <a14:foregroundMark x1="23232" y1="38710" x2="23232" y2="38710"/>
                          <a14:foregroundMark x1="34343" y1="48790" x2="34343" y2="48790"/>
                          <a14:foregroundMark x1="72525" y1="39113" x2="72525" y2="39113"/>
                          <a14:foregroundMark x1="73131" y1="22177" x2="73131" y2="22177"/>
                          <a14:foregroundMark x1="73333" y1="19758" x2="73333" y2="19758"/>
                          <a14:foregroundMark x1="67071" y1="30242" x2="67071" y2="30242"/>
                          <a14:foregroundMark x1="67071" y1="37903" x2="67071" y2="37903"/>
                          <a14:foregroundMark x1="66263" y1="44758" x2="66263" y2="44758"/>
                          <a14:foregroundMark x1="64848" y1="51613" x2="64848" y2="51613"/>
                          <a14:foregroundMark x1="61616" y1="58065" x2="61414" y2="59274"/>
                          <a14:foregroundMark x1="17374" y1="45565" x2="17374" y2="45565"/>
                          <a14:foregroundMark x1="15960" y1="46371" x2="15960" y2="46371"/>
                          <a14:foregroundMark x1="2424" y1="80645" x2="2424" y2="80645"/>
                          <a14:foregroundMark x1="2020" y1="89516" x2="2020" y2="89516"/>
                          <a14:foregroundMark x1="9697" y1="91935" x2="9697" y2="91935"/>
                          <a14:foregroundMark x1="15556" y1="81855" x2="15556" y2="81855"/>
                          <a14:foregroundMark x1="29495" y1="81048" x2="29495" y2="81048"/>
                          <a14:foregroundMark x1="42626" y1="81855" x2="42626" y2="81855"/>
                          <a14:foregroundMark x1="53939" y1="83468" x2="53939" y2="83468"/>
                          <a14:foregroundMark x1="63030" y1="81855" x2="63030" y2="81855"/>
                          <a14:foregroundMark x1="71515" y1="83468" x2="71515" y2="83468"/>
                          <a14:foregroundMark x1="84646" y1="85484" x2="84646" y2="85484"/>
                          <a14:foregroundMark x1="21616" y1="40323" x2="21616" y2="40323"/>
                          <a14:foregroundMark x1="22222" y1="39516" x2="22222" y2="39516"/>
                          <a14:foregroundMark x1="23434" y1="44355" x2="23434" y2="44355"/>
                          <a14:foregroundMark x1="66869" y1="29032" x2="66869" y2="29032"/>
                          <a14:foregroundMark x1="15152" y1="47177" x2="15152" y2="47177"/>
                          <a14:foregroundMark x1="73535" y1="18145" x2="73535" y2="1814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08319" y="4536298"/>
              <a:ext cx="847788" cy="424750"/>
            </a:xfrm>
            <a:prstGeom prst="rect">
              <a:avLst/>
            </a:prstGeom>
            <a:ln>
              <a:solidFill>
                <a:srgbClr val="909696"/>
              </a:solidFill>
            </a:ln>
          </p:spPr>
        </p:pic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B207676-F88D-4743-B2EB-B3E8CAF3CC98}"/>
                </a:ext>
              </a:extLst>
            </p:cNvPr>
            <p:cNvSpPr/>
            <p:nvPr/>
          </p:nvSpPr>
          <p:spPr>
            <a:xfrm>
              <a:off x="8302821" y="4226496"/>
              <a:ext cx="1094664" cy="1078149"/>
            </a:xfrm>
            <a:prstGeom prst="ellipse">
              <a:avLst/>
            </a:prstGeom>
            <a:noFill/>
            <a:ln w="38100">
              <a:solidFill>
                <a:srgbClr val="9096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CB7FFD1-020D-4DA8-B676-904008EFE8E3}"/>
              </a:ext>
            </a:extLst>
          </p:cNvPr>
          <p:cNvGrpSpPr/>
          <p:nvPr/>
        </p:nvGrpSpPr>
        <p:grpSpPr>
          <a:xfrm>
            <a:off x="9876772" y="1823843"/>
            <a:ext cx="1094664" cy="1078149"/>
            <a:chOff x="8427406" y="5663684"/>
            <a:chExt cx="1094664" cy="1078149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A20443D8-7853-4F7B-B815-958CDE32C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3175" b="96032" l="1636" r="98569">
                          <a14:foregroundMark x1="46830" y1="49206" x2="46830" y2="49206"/>
                          <a14:foregroundMark x1="47239" y1="46825" x2="47239" y2="46825"/>
                          <a14:foregroundMark x1="47444" y1="39683" x2="47444" y2="39683"/>
                          <a14:foregroundMark x1="47035" y1="30952" x2="47035" y2="30952"/>
                          <a14:foregroundMark x1="47444" y1="33333" x2="47444" y2="33333"/>
                          <a14:foregroundMark x1="50102" y1="23810" x2="50102" y2="23810"/>
                          <a14:foregroundMark x1="50307" y1="26984" x2="50307" y2="26984"/>
                          <a14:foregroundMark x1="50307" y1="30556" x2="50307" y2="30556"/>
                          <a14:foregroundMark x1="50307" y1="33730" x2="50307" y2="34524"/>
                          <a14:foregroundMark x1="50102" y1="37302" x2="50102" y2="37302"/>
                          <a14:foregroundMark x1="49693" y1="40873" x2="49693" y2="40873"/>
                          <a14:foregroundMark x1="48057" y1="51587" x2="48057" y2="51984"/>
                          <a14:foregroundMark x1="51534" y1="62698" x2="51534" y2="62698"/>
                          <a14:foregroundMark x1="58691" y1="74603" x2="58691" y2="74603"/>
                          <a14:foregroundMark x1="65440" y1="67460" x2="65440" y2="67460"/>
                          <a14:foregroundMark x1="71370" y1="83333" x2="71370" y2="83333"/>
                          <a14:foregroundMark x1="77505" y1="74603" x2="77505" y2="74603"/>
                          <a14:foregroundMark x1="82822" y1="72619" x2="82822" y2="72619"/>
                          <a14:foregroundMark x1="92843" y1="82937" x2="92843" y2="8293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7698" y="5977535"/>
              <a:ext cx="874080" cy="450446"/>
            </a:xfrm>
            <a:prstGeom prst="rect">
              <a:avLst/>
            </a:prstGeom>
            <a:ln>
              <a:solidFill>
                <a:srgbClr val="4D5666"/>
              </a:solidFill>
            </a:ln>
          </p:spPr>
        </p:pic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81A96A9-5986-4707-B5ED-BB6CD2882506}"/>
                </a:ext>
              </a:extLst>
            </p:cNvPr>
            <p:cNvSpPr/>
            <p:nvPr/>
          </p:nvSpPr>
          <p:spPr>
            <a:xfrm>
              <a:off x="8427406" y="5663684"/>
              <a:ext cx="1094664" cy="1078149"/>
            </a:xfrm>
            <a:prstGeom prst="ellipse">
              <a:avLst/>
            </a:prstGeom>
            <a:noFill/>
            <a:ln w="38100">
              <a:solidFill>
                <a:srgbClr val="4D56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A66DBBE-B849-4E8E-93C2-A806D057A74E}"/>
              </a:ext>
            </a:extLst>
          </p:cNvPr>
          <p:cNvCxnSpPr>
            <a:cxnSpLocks/>
          </p:cNvCxnSpPr>
          <p:nvPr/>
        </p:nvCxnSpPr>
        <p:spPr>
          <a:xfrm>
            <a:off x="4687586" y="1536496"/>
            <a:ext cx="0" cy="5166339"/>
          </a:xfrm>
          <a:prstGeom prst="line">
            <a:avLst/>
          </a:prstGeom>
          <a:ln>
            <a:solidFill>
              <a:srgbClr val="F2370D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1C38E38-7C3A-453B-A151-BCB54B274C5E}"/>
              </a:ext>
            </a:extLst>
          </p:cNvPr>
          <p:cNvCxnSpPr>
            <a:cxnSpLocks/>
          </p:cNvCxnSpPr>
          <p:nvPr/>
        </p:nvCxnSpPr>
        <p:spPr>
          <a:xfrm>
            <a:off x="6982192" y="1536496"/>
            <a:ext cx="0" cy="5166339"/>
          </a:xfrm>
          <a:prstGeom prst="line">
            <a:avLst/>
          </a:prstGeom>
          <a:ln>
            <a:solidFill>
              <a:srgbClr val="818C98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95DA1C4-9A6A-437C-BF50-9E1CF15B6F6C}"/>
              </a:ext>
            </a:extLst>
          </p:cNvPr>
          <p:cNvCxnSpPr>
            <a:cxnSpLocks/>
          </p:cNvCxnSpPr>
          <p:nvPr/>
        </p:nvCxnSpPr>
        <p:spPr>
          <a:xfrm>
            <a:off x="9276798" y="1536496"/>
            <a:ext cx="0" cy="5166339"/>
          </a:xfrm>
          <a:prstGeom prst="line">
            <a:avLst/>
          </a:prstGeom>
          <a:ln>
            <a:solidFill>
              <a:srgbClr val="4A5566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F624E06-BB43-4CB0-96C0-4753B9926A6F}"/>
              </a:ext>
            </a:extLst>
          </p:cNvPr>
          <p:cNvSpPr txBox="1"/>
          <p:nvPr/>
        </p:nvSpPr>
        <p:spPr>
          <a:xfrm>
            <a:off x="2513286" y="3211064"/>
            <a:ext cx="218505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Highly 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Stable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Most widely used Java application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/>
                </a:solidFill>
              </a:rPr>
              <a:t>Very well documented with strong developer community.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C612B0A-C3DD-4B35-8ED7-D00DADA5B167}"/>
              </a:ext>
            </a:extLst>
          </p:cNvPr>
          <p:cNvSpPr txBox="1"/>
          <p:nvPr/>
        </p:nvSpPr>
        <p:spPr>
          <a:xfrm>
            <a:off x="4723218" y="3211064"/>
            <a:ext cx="21850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2370D"/>
                </a:solidFill>
              </a:rPr>
              <a:t>Uses less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F2370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2370D"/>
                </a:solidFill>
              </a:rPr>
              <a:t>Fast servlet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F2370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2370D"/>
                </a:solidFill>
              </a:rPr>
              <a:t>App server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F2370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2370D"/>
                </a:solidFill>
              </a:rPr>
              <a:t>Can be embedded with ease in java web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F2370D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F2370D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3DA2C9-BD6C-446E-94CA-2416D4C7BB50}"/>
              </a:ext>
            </a:extLst>
          </p:cNvPr>
          <p:cNvSpPr txBox="1"/>
          <p:nvPr/>
        </p:nvSpPr>
        <p:spPr>
          <a:xfrm>
            <a:off x="7030092" y="3211064"/>
            <a:ext cx="218505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14356"/>
                </a:solidFill>
              </a:rPr>
              <a:t>Fastest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31435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14356"/>
                </a:solidFill>
              </a:rPr>
              <a:t>Embeddable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31435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14356"/>
                </a:solidFill>
              </a:rPr>
              <a:t>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31435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14356"/>
                </a:solidFill>
              </a:rPr>
              <a:t>build a web server by combining small single purpose handlers</a:t>
            </a:r>
          </a:p>
          <a:p>
            <a:endParaRPr lang="en-US" sz="1400">
              <a:solidFill>
                <a:srgbClr val="31435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314356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842AB5-E3DA-48C8-B637-1A2E7D0FBEF4}"/>
              </a:ext>
            </a:extLst>
          </p:cNvPr>
          <p:cNvSpPr txBox="1"/>
          <p:nvPr/>
        </p:nvSpPr>
        <p:spPr>
          <a:xfrm>
            <a:off x="9293309" y="3188119"/>
            <a:ext cx="218505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4D586A"/>
                </a:solidFill>
              </a:rPr>
              <a:t>Well-documented Javadoc, user guide and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4D586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4D586A"/>
                </a:solidFill>
              </a:rPr>
              <a:t>Less resource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4D586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4D586A"/>
                </a:solidFill>
              </a:rPr>
              <a:t>Minimized unnecessary memory copy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4D586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4D586A"/>
                </a:solidFill>
              </a:rPr>
              <a:t>Complete SSL/TLS and StartTLS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4D586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4D58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79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If there isn’t Spring Boot, how to deploy application tomcat server?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5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3DF469-C635-4BD4-9439-6462525C1D25}"/>
              </a:ext>
            </a:extLst>
          </p:cNvPr>
          <p:cNvGrpSpPr/>
          <p:nvPr/>
        </p:nvGrpSpPr>
        <p:grpSpPr>
          <a:xfrm>
            <a:off x="3997209" y="3121422"/>
            <a:ext cx="1945871" cy="2426197"/>
            <a:chOff x="3246046" y="2141951"/>
            <a:chExt cx="1436976" cy="1869803"/>
          </a:xfrm>
        </p:grpSpPr>
        <p:pic>
          <p:nvPicPr>
            <p:cNvPr id="3" name="Picture 2">
              <a:hlinkClick r:id="rId3" action="ppaction://hlinksldjump"/>
              <a:extLst>
                <a:ext uri="{FF2B5EF4-FFF2-40B4-BE49-F238E27FC236}">
                  <a16:creationId xmlns:a16="http://schemas.microsoft.com/office/drawing/2014/main" id="{A46B9D93-A5F7-4135-A0FD-2B73BF85F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6046" y="2141951"/>
              <a:ext cx="1436976" cy="1436976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68131AE-A7B0-45C6-BDDD-2797781431EB}"/>
                </a:ext>
              </a:extLst>
            </p:cNvPr>
            <p:cNvSpPr txBox="1"/>
            <p:nvPr/>
          </p:nvSpPr>
          <p:spPr>
            <a:xfrm>
              <a:off x="3339346" y="3611644"/>
              <a:ext cx="12503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chemeClr val="accent1"/>
                  </a:solidFill>
                </a:rPr>
                <a:t>Manual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173C7FC-52A3-406D-85C6-CEF2FD6018A6}"/>
              </a:ext>
            </a:extLst>
          </p:cNvPr>
          <p:cNvGrpSpPr/>
          <p:nvPr/>
        </p:nvGrpSpPr>
        <p:grpSpPr>
          <a:xfrm>
            <a:off x="7427004" y="3301241"/>
            <a:ext cx="1945871" cy="2110006"/>
            <a:chOff x="7839647" y="3339898"/>
            <a:chExt cx="1436976" cy="1626123"/>
          </a:xfrm>
        </p:grpSpPr>
        <p:pic>
          <p:nvPicPr>
            <p:cNvPr id="6" name="Picture 5">
              <a:hlinkClick r:id="rId5" action="ppaction://hlinksldjump"/>
              <a:extLst>
                <a:ext uri="{FF2B5EF4-FFF2-40B4-BE49-F238E27FC236}">
                  <a16:creationId xmlns:a16="http://schemas.microsoft.com/office/drawing/2014/main" id="{8F026C3A-ED50-4D69-B1BE-0A14DCD30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41605" y="3339898"/>
              <a:ext cx="1233060" cy="1226013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FB5FAE4-5568-4E5D-B6EC-EE52E3EDDDD4}"/>
                </a:ext>
              </a:extLst>
            </p:cNvPr>
            <p:cNvSpPr txBox="1"/>
            <p:nvPr/>
          </p:nvSpPr>
          <p:spPr>
            <a:xfrm>
              <a:off x="7839647" y="4565911"/>
              <a:ext cx="1436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chemeClr val="accent1"/>
                  </a:solidFill>
                </a:rPr>
                <a:t>Eclipse 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21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ACAE1F0-C9D2-41CC-97D4-17C06648FDD4}"/>
              </a:ext>
            </a:extLst>
          </p:cNvPr>
          <p:cNvSpPr/>
          <p:nvPr/>
        </p:nvSpPr>
        <p:spPr>
          <a:xfrm>
            <a:off x="3314639" y="2600767"/>
            <a:ext cx="7930535" cy="23826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6EB7E-4FB3-459B-B96E-B80F3E936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8173" y="2691052"/>
            <a:ext cx="7523465" cy="1952800"/>
          </a:xfrm>
        </p:spPr>
        <p:txBody>
          <a:bodyPr>
            <a:normAutofit/>
          </a:bodyPr>
          <a:lstStyle/>
          <a:p>
            <a:r>
              <a:rPr lang="en-US" sz="7200" b="1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DC185D3-DD97-4131-9AA4-365C1834CAA9}"/>
              </a:ext>
            </a:extLst>
          </p:cNvPr>
          <p:cNvSpPr/>
          <p:nvPr/>
        </p:nvSpPr>
        <p:spPr>
          <a:xfrm>
            <a:off x="0" y="0"/>
            <a:ext cx="2478157" cy="6858000"/>
          </a:xfrm>
          <a:custGeom>
            <a:avLst/>
            <a:gdLst>
              <a:gd name="connsiteX0" fmla="*/ 2414919 w 2478157"/>
              <a:gd name="connsiteY0" fmla="*/ 1182062 h 6858000"/>
              <a:gd name="connsiteX1" fmla="*/ 363913 w 2478157"/>
              <a:gd name="connsiteY1" fmla="*/ 3241518 h 6858000"/>
              <a:gd name="connsiteX2" fmla="*/ 2305991 w 2478157"/>
              <a:gd name="connsiteY2" fmla="*/ 5403995 h 6858000"/>
              <a:gd name="connsiteX3" fmla="*/ 2311817 w 2478157"/>
              <a:gd name="connsiteY3" fmla="*/ 5332662 h 6858000"/>
              <a:gd name="connsiteX4" fmla="*/ 435459 w 2478157"/>
              <a:gd name="connsiteY4" fmla="*/ 3243362 h 6858000"/>
              <a:gd name="connsiteX5" fmla="*/ 2417058 w 2478157"/>
              <a:gd name="connsiteY5" fmla="*/ 1253600 h 6858000"/>
              <a:gd name="connsiteX6" fmla="*/ 0 w 2478157"/>
              <a:gd name="connsiteY6" fmla="*/ 0 h 6858000"/>
              <a:gd name="connsiteX7" fmla="*/ 2478157 w 2478157"/>
              <a:gd name="connsiteY7" fmla="*/ 0 h 6858000"/>
              <a:gd name="connsiteX8" fmla="*/ 2478157 w 2478157"/>
              <a:gd name="connsiteY8" fmla="*/ 1413910 h 6858000"/>
              <a:gd name="connsiteX9" fmla="*/ 636105 w 2478157"/>
              <a:gd name="connsiteY9" fmla="*/ 3255962 h 6858000"/>
              <a:gd name="connsiteX10" fmla="*/ 2478157 w 2478157"/>
              <a:gd name="connsiteY10" fmla="*/ 5098014 h 6858000"/>
              <a:gd name="connsiteX11" fmla="*/ 2478157 w 2478157"/>
              <a:gd name="connsiteY11" fmla="*/ 6858000 h 6858000"/>
              <a:gd name="connsiteX12" fmla="*/ 0 w 2478157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78157" h="6858000">
                <a:moveTo>
                  <a:pt x="2414919" y="1182062"/>
                </a:moveTo>
                <a:cubicBezTo>
                  <a:pt x="1293111" y="1215621"/>
                  <a:pt x="392859" y="2119581"/>
                  <a:pt x="363913" y="3241518"/>
                </a:cubicBezTo>
                <a:cubicBezTo>
                  <a:pt x="334966" y="4363454"/>
                  <a:pt x="1187406" y="5312634"/>
                  <a:pt x="2305991" y="5403995"/>
                </a:cubicBezTo>
                <a:lnTo>
                  <a:pt x="2311817" y="5332662"/>
                </a:lnTo>
                <a:cubicBezTo>
                  <a:pt x="1231085" y="5244392"/>
                  <a:pt x="407492" y="4327332"/>
                  <a:pt x="435459" y="3243362"/>
                </a:cubicBezTo>
                <a:cubicBezTo>
                  <a:pt x="463426" y="2159392"/>
                  <a:pt x="1333212" y="1286023"/>
                  <a:pt x="2417058" y="1253600"/>
                </a:cubicBezTo>
                <a:close/>
                <a:moveTo>
                  <a:pt x="0" y="0"/>
                </a:moveTo>
                <a:lnTo>
                  <a:pt x="2478157" y="0"/>
                </a:lnTo>
                <a:lnTo>
                  <a:pt x="2478157" y="1413910"/>
                </a:lnTo>
                <a:cubicBezTo>
                  <a:pt x="1460820" y="1413910"/>
                  <a:pt x="636105" y="2238625"/>
                  <a:pt x="636105" y="3255962"/>
                </a:cubicBezTo>
                <a:cubicBezTo>
                  <a:pt x="636105" y="4273299"/>
                  <a:pt x="1460820" y="5098014"/>
                  <a:pt x="2478157" y="5098014"/>
                </a:cubicBezTo>
                <a:lnTo>
                  <a:pt x="2478157" y="6858000"/>
                </a:lnTo>
                <a:lnTo>
                  <a:pt x="0" y="685800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46105B-FCAE-4B27-8CD3-C9AE3156B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654" y="2074916"/>
            <a:ext cx="2220036" cy="19963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C39C0C-FD15-4FC8-9B30-02B9573965F1}"/>
              </a:ext>
            </a:extLst>
          </p:cNvPr>
          <p:cNvSpPr txBox="1"/>
          <p:nvPr/>
        </p:nvSpPr>
        <p:spPr>
          <a:xfrm>
            <a:off x="1101797" y="4023286"/>
            <a:ext cx="1822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Spring Boot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AA48B8-B05B-4D93-8F10-B2F4EC39FED4}"/>
              </a:ext>
            </a:extLst>
          </p:cNvPr>
          <p:cNvGrpSpPr/>
          <p:nvPr/>
        </p:nvGrpSpPr>
        <p:grpSpPr>
          <a:xfrm>
            <a:off x="11420105" y="10013"/>
            <a:ext cx="864660" cy="6858000"/>
            <a:chOff x="11418977" y="1579875"/>
            <a:chExt cx="681387" cy="466127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B2CE49-C4CC-421A-BACE-BB59401D7156}"/>
                </a:ext>
              </a:extLst>
            </p:cNvPr>
            <p:cNvSpPr/>
            <p:nvPr/>
          </p:nvSpPr>
          <p:spPr>
            <a:xfrm>
              <a:off x="11604306" y="1579875"/>
              <a:ext cx="391383" cy="466127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E26A2D4-C479-4A37-B431-E54BC32EF19B}"/>
                </a:ext>
              </a:extLst>
            </p:cNvPr>
            <p:cNvSpPr/>
            <p:nvPr/>
          </p:nvSpPr>
          <p:spPr>
            <a:xfrm rot="19906743" flipV="1">
              <a:off x="11418977" y="1968062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6E2DE78-A774-4053-B979-A6475BF85A84}"/>
                </a:ext>
              </a:extLst>
            </p:cNvPr>
            <p:cNvSpPr/>
            <p:nvPr/>
          </p:nvSpPr>
          <p:spPr>
            <a:xfrm rot="19906743" flipV="1">
              <a:off x="11418977" y="2321137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3DF1379-DC92-4D06-B06B-7D1178C5BCC8}"/>
                </a:ext>
              </a:extLst>
            </p:cNvPr>
            <p:cNvSpPr/>
            <p:nvPr/>
          </p:nvSpPr>
          <p:spPr>
            <a:xfrm rot="19906743" flipV="1">
              <a:off x="11418977" y="2674211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F2E6FB5-415B-4811-A272-E79C7649FC41}"/>
                </a:ext>
              </a:extLst>
            </p:cNvPr>
            <p:cNvSpPr/>
            <p:nvPr/>
          </p:nvSpPr>
          <p:spPr>
            <a:xfrm rot="19906743" flipV="1">
              <a:off x="11418977" y="3027286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BF1D878-42D1-4A3B-B722-3EB2CB6E27BA}"/>
                </a:ext>
              </a:extLst>
            </p:cNvPr>
            <p:cNvSpPr/>
            <p:nvPr/>
          </p:nvSpPr>
          <p:spPr>
            <a:xfrm rot="19906743" flipV="1">
              <a:off x="11418977" y="3380360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34E6821-D1E2-44D0-8D05-1A326399F4C6}"/>
                </a:ext>
              </a:extLst>
            </p:cNvPr>
            <p:cNvSpPr/>
            <p:nvPr/>
          </p:nvSpPr>
          <p:spPr>
            <a:xfrm rot="19906743" flipV="1">
              <a:off x="11418977" y="3733435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D8BB4E8-A8AD-4D3F-B19B-0F30DD69CC35}"/>
                </a:ext>
              </a:extLst>
            </p:cNvPr>
            <p:cNvSpPr/>
            <p:nvPr/>
          </p:nvSpPr>
          <p:spPr>
            <a:xfrm rot="19906743" flipV="1">
              <a:off x="11418977" y="4086509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522C316-C470-467E-AF93-0D1140C90CA1}"/>
                </a:ext>
              </a:extLst>
            </p:cNvPr>
            <p:cNvSpPr/>
            <p:nvPr/>
          </p:nvSpPr>
          <p:spPr>
            <a:xfrm rot="19906743" flipV="1">
              <a:off x="11418977" y="4439584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F38B5FC-9761-42CA-AE85-236FC2632969}"/>
                </a:ext>
              </a:extLst>
            </p:cNvPr>
            <p:cNvSpPr/>
            <p:nvPr/>
          </p:nvSpPr>
          <p:spPr>
            <a:xfrm rot="19906743" flipV="1">
              <a:off x="11418977" y="4792658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C5813BF-DBFF-4B1F-A88A-D05CEE50C831}"/>
                </a:ext>
              </a:extLst>
            </p:cNvPr>
            <p:cNvSpPr/>
            <p:nvPr/>
          </p:nvSpPr>
          <p:spPr>
            <a:xfrm rot="19906743" flipV="1">
              <a:off x="11418977" y="5145733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2D92BD1-1D61-4BA2-B617-E0453B778E20}"/>
                </a:ext>
              </a:extLst>
            </p:cNvPr>
            <p:cNvSpPr/>
            <p:nvPr/>
          </p:nvSpPr>
          <p:spPr>
            <a:xfrm rot="19906743" flipV="1">
              <a:off x="11418977" y="5498807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071AE62-2D85-446E-902D-B149C5FECF5B}"/>
                </a:ext>
              </a:extLst>
            </p:cNvPr>
            <p:cNvSpPr/>
            <p:nvPr/>
          </p:nvSpPr>
          <p:spPr>
            <a:xfrm rot="19906743" flipV="1">
              <a:off x="11418977" y="5851882"/>
              <a:ext cx="681387" cy="11100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Diagonal Stripe 33">
            <a:extLst>
              <a:ext uri="{FF2B5EF4-FFF2-40B4-BE49-F238E27FC236}">
                <a16:creationId xmlns:a16="http://schemas.microsoft.com/office/drawing/2014/main" id="{DBC811D1-03C8-4F51-A0B5-174F7F2B4A8C}"/>
              </a:ext>
            </a:extLst>
          </p:cNvPr>
          <p:cNvSpPr/>
          <p:nvPr/>
        </p:nvSpPr>
        <p:spPr>
          <a:xfrm rot="3043583">
            <a:off x="4219405" y="3400131"/>
            <a:ext cx="5650450" cy="6888587"/>
          </a:xfrm>
          <a:prstGeom prst="diagStripe">
            <a:avLst>
              <a:gd name="adj" fmla="val 89973"/>
            </a:avLst>
          </a:prstGeom>
          <a:solidFill>
            <a:srgbClr val="A1D68E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Diagonal Stripe 37">
            <a:extLst>
              <a:ext uri="{FF2B5EF4-FFF2-40B4-BE49-F238E27FC236}">
                <a16:creationId xmlns:a16="http://schemas.microsoft.com/office/drawing/2014/main" id="{2D50C728-F09F-4825-AF05-5101E40A5B36}"/>
              </a:ext>
            </a:extLst>
          </p:cNvPr>
          <p:cNvSpPr/>
          <p:nvPr/>
        </p:nvSpPr>
        <p:spPr>
          <a:xfrm rot="18561219" flipV="1">
            <a:off x="4152876" y="-3460625"/>
            <a:ext cx="5650450" cy="6888587"/>
          </a:xfrm>
          <a:prstGeom prst="diagStripe">
            <a:avLst>
              <a:gd name="adj" fmla="val 83495"/>
            </a:avLst>
          </a:prstGeom>
          <a:solidFill>
            <a:srgbClr val="A1D68E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52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/>
                <a:t>2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Sevlet là gì?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7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C669F-9ACE-4397-A6E8-D5219BB571F0}"/>
              </a:ext>
            </a:extLst>
          </p:cNvPr>
          <p:cNvSpPr txBox="1"/>
          <p:nvPr/>
        </p:nvSpPr>
        <p:spPr>
          <a:xfrm>
            <a:off x="3289044" y="2026987"/>
            <a:ext cx="7528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6EB53F"/>
                </a:solidFill>
              </a:rPr>
              <a:t>Là 1 interface được định nghĩa trong javax.servlet.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0CE80A-716C-448A-891E-3983E3E8BFFC}"/>
              </a:ext>
            </a:extLst>
          </p:cNvPr>
          <p:cNvSpPr txBox="1"/>
          <p:nvPr/>
        </p:nvSpPr>
        <p:spPr>
          <a:xfrm>
            <a:off x="3239739" y="2727060"/>
            <a:ext cx="7876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6EB53F"/>
                </a:solidFill>
              </a:rPr>
              <a:t>Có 3 phương thức cần thực hiện cho một vòng đời của servlet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E42FF1-DABE-496F-9869-FF32978A329A}"/>
              </a:ext>
            </a:extLst>
          </p:cNvPr>
          <p:cNvCxnSpPr>
            <a:cxnSpLocks/>
          </p:cNvCxnSpPr>
          <p:nvPr/>
        </p:nvCxnSpPr>
        <p:spPr>
          <a:xfrm>
            <a:off x="3357562" y="3980412"/>
            <a:ext cx="2293938" cy="185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B5C4182-2AEE-417C-A643-BCF7D27F32FD}"/>
              </a:ext>
            </a:extLst>
          </p:cNvPr>
          <p:cNvSpPr txBox="1"/>
          <p:nvPr/>
        </p:nvSpPr>
        <p:spPr>
          <a:xfrm>
            <a:off x="3357562" y="3435863"/>
            <a:ext cx="933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6EB53F"/>
                </a:solidFill>
              </a:rPr>
              <a:t>init()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6649F1-7D6A-44A0-A878-BC27EDD52C0C}"/>
              </a:ext>
            </a:extLst>
          </p:cNvPr>
          <p:cNvSpPr/>
          <p:nvPr/>
        </p:nvSpPr>
        <p:spPr>
          <a:xfrm>
            <a:off x="5651500" y="3578927"/>
            <a:ext cx="1841500" cy="773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Servlet In Service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5E58C06-B65A-47A4-B240-C460CCD93D32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7493000" y="3965475"/>
            <a:ext cx="19939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A7ADB06-71DE-4CC4-B062-6FEF7C5C5406}"/>
              </a:ext>
            </a:extLst>
          </p:cNvPr>
          <p:cNvSpPr txBox="1"/>
          <p:nvPr/>
        </p:nvSpPr>
        <p:spPr>
          <a:xfrm>
            <a:off x="8506252" y="3384264"/>
            <a:ext cx="1756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6EB53F"/>
                </a:solidFill>
              </a:rPr>
              <a:t>destroy()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F6559CCC-FD4B-41E6-A629-2E95E3FC997A}"/>
              </a:ext>
            </a:extLst>
          </p:cNvPr>
          <p:cNvSpPr/>
          <p:nvPr/>
        </p:nvSpPr>
        <p:spPr>
          <a:xfrm>
            <a:off x="6115050" y="4352023"/>
            <a:ext cx="914400" cy="914400"/>
          </a:xfrm>
          <a:prstGeom prst="arc">
            <a:avLst>
              <a:gd name="adj1" fmla="val 16200000"/>
              <a:gd name="adj2" fmla="val 14606748"/>
            </a:avLst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D839DE-6B7C-48ED-BD6E-FE9D9EC81DE6}"/>
              </a:ext>
            </a:extLst>
          </p:cNvPr>
          <p:cNvSpPr txBox="1"/>
          <p:nvPr/>
        </p:nvSpPr>
        <p:spPr>
          <a:xfrm>
            <a:off x="5914424" y="5251322"/>
            <a:ext cx="1756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6EB53F"/>
                </a:solidFill>
              </a:rPr>
              <a:t>Service()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A9F23E-5487-43A9-B621-57A381007B3C}"/>
              </a:ext>
            </a:extLst>
          </p:cNvPr>
          <p:cNvSpPr txBox="1"/>
          <p:nvPr/>
        </p:nvSpPr>
        <p:spPr>
          <a:xfrm>
            <a:off x="4850666" y="5896570"/>
            <a:ext cx="124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6EB53F"/>
                </a:solidFill>
              </a:rPr>
              <a:t>HTTP: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C84F49-3676-4608-9B07-C0F5521A9E2B}"/>
              </a:ext>
            </a:extLst>
          </p:cNvPr>
          <p:cNvSpPr txBox="1"/>
          <p:nvPr/>
        </p:nvSpPr>
        <p:spPr>
          <a:xfrm>
            <a:off x="5389124" y="6328336"/>
            <a:ext cx="5514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6EB53F"/>
                </a:solidFill>
              </a:rPr>
              <a:t>doGet(), doPost(), doHead(), doOptions(), doTrace(),…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01264E-6BDB-44E4-A1BB-B47F9EE56986}"/>
              </a:ext>
            </a:extLst>
          </p:cNvPr>
          <p:cNvSpPr txBox="1"/>
          <p:nvPr/>
        </p:nvSpPr>
        <p:spPr>
          <a:xfrm>
            <a:off x="2756464" y="2015776"/>
            <a:ext cx="555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6EB53F"/>
                </a:solidFill>
                <a:sym typeface="Wingdings" panose="05000000000000000000" pitchFamily="2" charset="2"/>
              </a:rPr>
              <a:t></a:t>
            </a:r>
            <a:endParaRPr lang="en-US" sz="3600" b="1">
              <a:solidFill>
                <a:srgbClr val="6EB53F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1CF589-F58E-49A0-97A1-BAADE21C2E69}"/>
              </a:ext>
            </a:extLst>
          </p:cNvPr>
          <p:cNvSpPr txBox="1"/>
          <p:nvPr/>
        </p:nvSpPr>
        <p:spPr>
          <a:xfrm>
            <a:off x="2740018" y="2667786"/>
            <a:ext cx="555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6EB53F"/>
                </a:solidFill>
                <a:sym typeface="Wingdings" panose="05000000000000000000" pitchFamily="2" charset="2"/>
              </a:rPr>
              <a:t></a:t>
            </a:r>
            <a:endParaRPr lang="en-US" sz="3600" b="1">
              <a:solidFill>
                <a:srgbClr val="6EB5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41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/>
                <a:t>2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Servlet containers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8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sp>
        <p:nvSpPr>
          <p:cNvPr id="12" name="TextBox 11" hidden="1">
            <a:extLst>
              <a:ext uri="{FF2B5EF4-FFF2-40B4-BE49-F238E27FC236}">
                <a16:creationId xmlns:a16="http://schemas.microsoft.com/office/drawing/2014/main" id="{142FF82D-81EA-4022-AF65-1B1B9A41974E}"/>
              </a:ext>
            </a:extLst>
          </p:cNvPr>
          <p:cNvSpPr txBox="1"/>
          <p:nvPr/>
        </p:nvSpPr>
        <p:spPr>
          <a:xfrm>
            <a:off x="7679726" y="2939725"/>
            <a:ext cx="158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1.HTTP Reqest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6D26FFC-E354-4AFD-8490-7AE0A9A5B686}"/>
              </a:ext>
            </a:extLst>
          </p:cNvPr>
          <p:cNvGrpSpPr/>
          <p:nvPr/>
        </p:nvGrpSpPr>
        <p:grpSpPr>
          <a:xfrm>
            <a:off x="3201358" y="2166629"/>
            <a:ext cx="7030570" cy="3775797"/>
            <a:chOff x="3442658" y="2397177"/>
            <a:chExt cx="7030570" cy="377579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2DAD276-BAB1-43A4-A904-2F78CDF9D4B5}"/>
                </a:ext>
              </a:extLst>
            </p:cNvPr>
            <p:cNvSpPr/>
            <p:nvPr/>
          </p:nvSpPr>
          <p:spPr>
            <a:xfrm>
              <a:off x="3442658" y="2397177"/>
              <a:ext cx="7030570" cy="3775797"/>
            </a:xfrm>
            <a:prstGeom prst="rect">
              <a:avLst/>
            </a:prstGeom>
            <a:solidFill>
              <a:srgbClr val="E6E6E6">
                <a:alpha val="46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AD80E10-61DC-41B7-869A-70320DE862E9}"/>
                </a:ext>
              </a:extLst>
            </p:cNvPr>
            <p:cNvGrpSpPr/>
            <p:nvPr/>
          </p:nvGrpSpPr>
          <p:grpSpPr>
            <a:xfrm>
              <a:off x="3605485" y="2608621"/>
              <a:ext cx="2921000" cy="3317815"/>
              <a:chOff x="3605485" y="2608621"/>
              <a:chExt cx="2921000" cy="331781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4DBB984-A20A-43F4-8B22-7AD50304E7DB}"/>
                  </a:ext>
                </a:extLst>
              </p:cNvPr>
              <p:cNvSpPr/>
              <p:nvPr/>
            </p:nvSpPr>
            <p:spPr>
              <a:xfrm>
                <a:off x="3605485" y="2939725"/>
                <a:ext cx="2921000" cy="2986711"/>
              </a:xfrm>
              <a:prstGeom prst="rect">
                <a:avLst/>
              </a:prstGeom>
              <a:noFill/>
              <a:ln>
                <a:solidFill>
                  <a:srgbClr val="6EB5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48D5F6B-F326-41BB-BE02-429CA28A15D2}"/>
                  </a:ext>
                </a:extLst>
              </p:cNvPr>
              <p:cNvSpPr/>
              <p:nvPr/>
            </p:nvSpPr>
            <p:spPr>
              <a:xfrm>
                <a:off x="3605485" y="2608621"/>
                <a:ext cx="2921000" cy="33110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Web Server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48ECC03-F929-4504-8487-A3601878B4E2}"/>
                </a:ext>
              </a:extLst>
            </p:cNvPr>
            <p:cNvGrpSpPr/>
            <p:nvPr/>
          </p:nvGrpSpPr>
          <p:grpSpPr>
            <a:xfrm>
              <a:off x="3745824" y="3745075"/>
              <a:ext cx="2062594" cy="2019246"/>
              <a:chOff x="3605485" y="2494247"/>
              <a:chExt cx="2921000" cy="3432189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FCDD072-375F-4671-A005-6B3FB8FD3CE2}"/>
                  </a:ext>
                </a:extLst>
              </p:cNvPr>
              <p:cNvSpPr/>
              <p:nvPr/>
            </p:nvSpPr>
            <p:spPr>
              <a:xfrm>
                <a:off x="3605485" y="2939725"/>
                <a:ext cx="2921000" cy="2986711"/>
              </a:xfrm>
              <a:prstGeom prst="rect">
                <a:avLst/>
              </a:prstGeom>
              <a:noFill/>
              <a:ln>
                <a:solidFill>
                  <a:srgbClr val="6EB5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7D85C65-729A-4B0F-B088-E2556DC62E76}"/>
                  </a:ext>
                </a:extLst>
              </p:cNvPr>
              <p:cNvSpPr/>
              <p:nvPr/>
            </p:nvSpPr>
            <p:spPr>
              <a:xfrm>
                <a:off x="3605485" y="2494247"/>
                <a:ext cx="2921000" cy="44547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Servlet Container</a:t>
                </a:r>
              </a:p>
            </p:txBody>
          </p: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7456BDA-ADA4-4625-9285-B095966C94A0}"/>
                </a:ext>
              </a:extLst>
            </p:cNvPr>
            <p:cNvCxnSpPr>
              <a:cxnSpLocks/>
              <a:stCxn id="2058" idx="1"/>
              <a:endCxn id="77" idx="3"/>
            </p:cNvCxnSpPr>
            <p:nvPr/>
          </p:nvCxnSpPr>
          <p:spPr>
            <a:xfrm flipH="1">
              <a:off x="5808418" y="3210235"/>
              <a:ext cx="1810267" cy="1561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0E584FE-64BA-497F-BD1B-4635D9A8B09B}"/>
                </a:ext>
              </a:extLst>
            </p:cNvPr>
            <p:cNvCxnSpPr>
              <a:cxnSpLocks/>
              <a:endCxn id="2058" idx="3"/>
            </p:cNvCxnSpPr>
            <p:nvPr/>
          </p:nvCxnSpPr>
          <p:spPr>
            <a:xfrm flipH="1">
              <a:off x="9632355" y="3210235"/>
              <a:ext cx="489545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AB45C5A-4396-4FA2-B709-C7161C8A87A6}"/>
                </a:ext>
              </a:extLst>
            </p:cNvPr>
            <p:cNvSpPr/>
            <p:nvPr/>
          </p:nvSpPr>
          <p:spPr>
            <a:xfrm>
              <a:off x="3978259" y="4186201"/>
              <a:ext cx="1648149" cy="365939"/>
            </a:xfrm>
            <a:prstGeom prst="roundRect">
              <a:avLst>
                <a:gd name="adj" fmla="val 4434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3. Load Servlet</a:t>
              </a: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EDDC54C0-0613-47B6-8C15-8CDB78158733}"/>
                </a:ext>
              </a:extLst>
            </p:cNvPr>
            <p:cNvSpPr/>
            <p:nvPr/>
          </p:nvSpPr>
          <p:spPr>
            <a:xfrm>
              <a:off x="3984086" y="4733708"/>
              <a:ext cx="1648149" cy="365939"/>
            </a:xfrm>
            <a:prstGeom prst="roundRect">
              <a:avLst>
                <a:gd name="adj" fmla="val 4434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4. Initialization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44BB86E1-62A4-4D50-8E05-EC221CD8F208}"/>
                </a:ext>
              </a:extLst>
            </p:cNvPr>
            <p:cNvSpPr/>
            <p:nvPr/>
          </p:nvSpPr>
          <p:spPr>
            <a:xfrm>
              <a:off x="4010532" y="5252591"/>
              <a:ext cx="1648149" cy="365939"/>
            </a:xfrm>
            <a:prstGeom prst="roundRect">
              <a:avLst>
                <a:gd name="adj" fmla="val 4434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5. Process Request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8742BEC-79C8-44E3-9BBC-976CF307C92A}"/>
                </a:ext>
              </a:extLst>
            </p:cNvPr>
            <p:cNvSpPr txBox="1"/>
            <p:nvPr/>
          </p:nvSpPr>
          <p:spPr>
            <a:xfrm>
              <a:off x="3745825" y="3041186"/>
              <a:ext cx="20625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2.Forward Request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54057BD8-1283-4ECB-9B9A-636ABBA53174}"/>
                </a:ext>
              </a:extLst>
            </p:cNvPr>
            <p:cNvCxnSpPr>
              <a:cxnSpLocks/>
              <a:stCxn id="77" idx="2"/>
              <a:endCxn id="47" idx="0"/>
            </p:cNvCxnSpPr>
            <p:nvPr/>
          </p:nvCxnSpPr>
          <p:spPr>
            <a:xfrm flipH="1">
              <a:off x="4777121" y="3410518"/>
              <a:ext cx="1" cy="33455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8" name="TextBox 2057">
              <a:extLst>
                <a:ext uri="{FF2B5EF4-FFF2-40B4-BE49-F238E27FC236}">
                  <a16:creationId xmlns:a16="http://schemas.microsoft.com/office/drawing/2014/main" id="{3170119A-358E-4EC6-8F49-1C4885295B3F}"/>
                </a:ext>
              </a:extLst>
            </p:cNvPr>
            <p:cNvSpPr txBox="1"/>
            <p:nvPr/>
          </p:nvSpPr>
          <p:spPr>
            <a:xfrm>
              <a:off x="7618685" y="3025569"/>
              <a:ext cx="20136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1.HTTP Request</a:t>
              </a:r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F36F4172-E4DF-4C35-806C-C8B6F51E9802}"/>
                </a:ext>
              </a:extLst>
            </p:cNvPr>
            <p:cNvCxnSpPr>
              <a:cxnSpLocks/>
              <a:stCxn id="45" idx="3"/>
              <a:endCxn id="113" idx="1"/>
            </p:cNvCxnSpPr>
            <p:nvPr/>
          </p:nvCxnSpPr>
          <p:spPr>
            <a:xfrm flipV="1">
              <a:off x="5808418" y="4877760"/>
              <a:ext cx="1121141" cy="798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D174D8E-3E7E-47E4-9937-F4B2630F3979}"/>
                </a:ext>
              </a:extLst>
            </p:cNvPr>
            <p:cNvSpPr txBox="1"/>
            <p:nvPr/>
          </p:nvSpPr>
          <p:spPr>
            <a:xfrm>
              <a:off x="6929559" y="4693094"/>
              <a:ext cx="20625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6. HTTP Response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5D7452B6-E852-4BDB-9E54-5C61EB9D1476}"/>
                </a:ext>
              </a:extLst>
            </p:cNvPr>
            <p:cNvCxnSpPr>
              <a:cxnSpLocks/>
            </p:cNvCxnSpPr>
            <p:nvPr/>
          </p:nvCxnSpPr>
          <p:spPr>
            <a:xfrm>
              <a:off x="8992152" y="4848161"/>
              <a:ext cx="112880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926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/>
                <a:t>2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Java Servlet Containers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9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Concepts and advantages of each embedded web servers</a:t>
            </a:r>
            <a:r>
              <a:rPr lang="en-US" sz="1200">
                <a:solidFill>
                  <a:schemeClr val="bg1"/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4B26DAD-8F02-4CAD-8AD7-4D36C093AB2C}"/>
              </a:ext>
            </a:extLst>
          </p:cNvPr>
          <p:cNvGrpSpPr/>
          <p:nvPr/>
        </p:nvGrpSpPr>
        <p:grpSpPr>
          <a:xfrm>
            <a:off x="4369939" y="2080418"/>
            <a:ext cx="1480821" cy="1022435"/>
            <a:chOff x="3884613" y="2637823"/>
            <a:chExt cx="1164414" cy="967317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8DE23F90-E257-4ACF-B00B-254721225C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4613" y="2637823"/>
              <a:ext cx="1019175" cy="819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1048111-AA26-4436-8217-D3705ED923A7}"/>
                </a:ext>
              </a:extLst>
            </p:cNvPr>
            <p:cNvSpPr txBox="1"/>
            <p:nvPr/>
          </p:nvSpPr>
          <p:spPr>
            <a:xfrm>
              <a:off x="3954363" y="3266586"/>
              <a:ext cx="10946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GlassFish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C26C60D-FFF0-43A9-9487-1E1E368F6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939" y="3647375"/>
            <a:ext cx="1855389" cy="10294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D71972-13C3-4981-AF67-09EA31CC7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9939" y="5201236"/>
            <a:ext cx="1630089" cy="10808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518470-F423-4FBC-9B97-9B3F90C7AF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04" y="4705098"/>
            <a:ext cx="1355950" cy="13559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B198593-12A0-4A9D-B1CC-440BE45310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7302" y="1948262"/>
            <a:ext cx="1874676" cy="11144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1260C9-338E-4372-9D67-3A7F862AAD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7302" y="3301784"/>
            <a:ext cx="1803678" cy="1085951"/>
          </a:xfrm>
          <a:prstGeom prst="rect">
            <a:avLst/>
          </a:prstGeom>
        </p:spPr>
      </p:pic>
      <p:sp>
        <p:nvSpPr>
          <p:cNvPr id="5" name="Arrow: Right 4">
            <a:hlinkClick r:id="rId9" action="ppaction://hlinksldjump"/>
            <a:extLst>
              <a:ext uri="{FF2B5EF4-FFF2-40B4-BE49-F238E27FC236}">
                <a16:creationId xmlns:a16="http://schemas.microsoft.com/office/drawing/2014/main" id="{38CACA75-0C80-4FA9-A22C-277E8D96B781}"/>
              </a:ext>
            </a:extLst>
          </p:cNvPr>
          <p:cNvSpPr/>
          <p:nvPr/>
        </p:nvSpPr>
        <p:spPr>
          <a:xfrm flipH="1">
            <a:off x="9949500" y="6040266"/>
            <a:ext cx="1166673" cy="6279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3390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Build war file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10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D198C6-7FD7-46D8-A4CA-A9AD96242B78}"/>
              </a:ext>
            </a:extLst>
          </p:cNvPr>
          <p:cNvSpPr txBox="1"/>
          <p:nvPr/>
        </p:nvSpPr>
        <p:spPr>
          <a:xfrm>
            <a:off x="3466730" y="2053286"/>
            <a:ext cx="6225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accent1"/>
                </a:solidFill>
                <a:sym typeface="Wingdings" panose="05000000000000000000" pitchFamily="2" charset="2"/>
              </a:rPr>
              <a:t> </a:t>
            </a:r>
            <a:r>
              <a:rPr lang="en-US" sz="2400">
                <a:solidFill>
                  <a:schemeClr val="accent1"/>
                </a:solidFill>
              </a:rPr>
              <a:t>Dynamic Web Application in Eclipse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EA03A4-9168-405F-9308-BBA87FF49EA9}"/>
              </a:ext>
            </a:extLst>
          </p:cNvPr>
          <p:cNvSpPr txBox="1"/>
          <p:nvPr/>
        </p:nvSpPr>
        <p:spPr>
          <a:xfrm>
            <a:off x="3466730" y="3618122"/>
            <a:ext cx="6225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accent1"/>
                </a:solidFill>
                <a:sym typeface="Wingdings" panose="05000000000000000000" pitchFamily="2" charset="2"/>
              </a:rPr>
              <a:t></a:t>
            </a:r>
            <a:r>
              <a:rPr lang="en-US" sz="2400">
                <a:solidFill>
                  <a:schemeClr val="accent1"/>
                </a:solidFill>
                <a:sym typeface="Wingdings" panose="05000000000000000000" pitchFamily="2" charset="2"/>
              </a:rPr>
              <a:t> </a:t>
            </a:r>
            <a:r>
              <a:rPr lang="en-US" sz="2400">
                <a:solidFill>
                  <a:schemeClr val="accent1"/>
                </a:solidFill>
              </a:rPr>
              <a:t>Maven Web Application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7F4AE8-36B2-47C3-919C-4162DB5F696C}"/>
              </a:ext>
            </a:extLst>
          </p:cNvPr>
          <p:cNvSpPr txBox="1"/>
          <p:nvPr/>
        </p:nvSpPr>
        <p:spPr>
          <a:xfrm>
            <a:off x="4243120" y="2763823"/>
            <a:ext cx="5389424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chemeClr val="accent1"/>
                </a:solidFill>
              </a:rPr>
              <a:t>Right click &gt; Export &gt; War file &gt; Sestination Source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04825-43BA-4DD4-99AD-F2D27B683ABC}"/>
              </a:ext>
            </a:extLst>
          </p:cNvPr>
          <p:cNvSpPr txBox="1"/>
          <p:nvPr/>
        </p:nvSpPr>
        <p:spPr>
          <a:xfrm>
            <a:off x="4243120" y="4318532"/>
            <a:ext cx="495637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chemeClr val="accent1"/>
                </a:solidFill>
              </a:rPr>
              <a:t>mvn war:war</a:t>
            </a:r>
          </a:p>
        </p:txBody>
      </p:sp>
      <p:sp>
        <p:nvSpPr>
          <p:cNvPr id="40" name="Arrow: Right 39">
            <a:hlinkClick r:id="rId3" action="ppaction://hlinksldjump"/>
            <a:extLst>
              <a:ext uri="{FF2B5EF4-FFF2-40B4-BE49-F238E27FC236}">
                <a16:creationId xmlns:a16="http://schemas.microsoft.com/office/drawing/2014/main" id="{C431BD48-6CBE-49EF-AA6A-3861D3DDA174}"/>
              </a:ext>
            </a:extLst>
          </p:cNvPr>
          <p:cNvSpPr/>
          <p:nvPr/>
        </p:nvSpPr>
        <p:spPr>
          <a:xfrm flipH="1">
            <a:off x="9949500" y="6061048"/>
            <a:ext cx="1166673" cy="6279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67862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Download Tomcat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11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F89098-0DC2-4CFD-B8BF-8BB9999BD2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85" t="70989" r="64462" b="4644"/>
          <a:stretch/>
        </p:blipFill>
        <p:spPr>
          <a:xfrm>
            <a:off x="3654526" y="1781155"/>
            <a:ext cx="6059936" cy="32610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963C77-6FA1-47BC-A82F-1AEF333DC4C8}"/>
              </a:ext>
            </a:extLst>
          </p:cNvPr>
          <p:cNvSpPr txBox="1"/>
          <p:nvPr/>
        </p:nvSpPr>
        <p:spPr>
          <a:xfrm>
            <a:off x="3564103" y="5579655"/>
            <a:ext cx="6535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B1: Download tomcat from </a:t>
            </a:r>
            <a:r>
              <a:rPr lang="en-US" sz="2000">
                <a:hlinkClick r:id="rId4"/>
              </a:rPr>
              <a:t>https://tomcat.apache.org </a:t>
            </a:r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BCF022-B59F-4F79-9B68-81C3A93E1937}"/>
              </a:ext>
            </a:extLst>
          </p:cNvPr>
          <p:cNvSpPr/>
          <p:nvPr/>
        </p:nvSpPr>
        <p:spPr>
          <a:xfrm>
            <a:off x="4717473" y="3558145"/>
            <a:ext cx="4509654" cy="265710"/>
          </a:xfrm>
          <a:prstGeom prst="rect">
            <a:avLst/>
          </a:prstGeom>
          <a:noFill/>
          <a:ln w="28575">
            <a:solidFill>
              <a:srgbClr val="F237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4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Install Tomcat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12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63C77-6FA1-47BC-A82F-1AEF333DC4C8}"/>
              </a:ext>
            </a:extLst>
          </p:cNvPr>
          <p:cNvSpPr txBox="1"/>
          <p:nvPr/>
        </p:nvSpPr>
        <p:spPr>
          <a:xfrm>
            <a:off x="5227822" y="5495646"/>
            <a:ext cx="3480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B2: Install Tomcat</a:t>
            </a:r>
            <a:endParaRPr lang="en-US" sz="2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DADE97-97B1-4247-B41B-46606C96E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54" y="1637930"/>
            <a:ext cx="4772691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6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Start Tomcat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13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63C77-6FA1-47BC-A82F-1AEF333DC4C8}"/>
              </a:ext>
            </a:extLst>
          </p:cNvPr>
          <p:cNvSpPr txBox="1"/>
          <p:nvPr/>
        </p:nvSpPr>
        <p:spPr>
          <a:xfrm>
            <a:off x="5227822" y="5495646"/>
            <a:ext cx="3480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B3: Start Tomcat</a:t>
            </a:r>
            <a:endParaRPr lang="en-US" sz="2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DADE97-97B1-4247-B41B-46606C96E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54" y="1637930"/>
            <a:ext cx="4772691" cy="37152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2043C9-1F8D-41D5-9A75-D4333ACE9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115" y="1693737"/>
            <a:ext cx="7059010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13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Deploy Project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14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63C77-6FA1-47BC-A82F-1AEF333DC4C8}"/>
              </a:ext>
            </a:extLst>
          </p:cNvPr>
          <p:cNvSpPr txBox="1"/>
          <p:nvPr/>
        </p:nvSpPr>
        <p:spPr>
          <a:xfrm>
            <a:off x="5227822" y="5564266"/>
            <a:ext cx="3480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B4.1: Access localhost:8080</a:t>
            </a: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6363E7-AD1A-497F-B265-88501171C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321" y="1830768"/>
            <a:ext cx="6743244" cy="363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6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Deploy Project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15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63C77-6FA1-47BC-A82F-1AEF333DC4C8}"/>
              </a:ext>
            </a:extLst>
          </p:cNvPr>
          <p:cNvSpPr txBox="1"/>
          <p:nvPr/>
        </p:nvSpPr>
        <p:spPr>
          <a:xfrm>
            <a:off x="5227822" y="5564266"/>
            <a:ext cx="3480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B4.2: Click Manager App</a:t>
            </a: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6363E7-AD1A-497F-B265-88501171C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321" y="1830768"/>
            <a:ext cx="6743244" cy="36302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52B13B-4593-4C82-B5AC-679152A1442F}"/>
              </a:ext>
            </a:extLst>
          </p:cNvPr>
          <p:cNvSpPr/>
          <p:nvPr/>
        </p:nvSpPr>
        <p:spPr>
          <a:xfrm>
            <a:off x="8650514" y="3193143"/>
            <a:ext cx="740229" cy="174171"/>
          </a:xfrm>
          <a:prstGeom prst="rect">
            <a:avLst/>
          </a:prstGeom>
          <a:noFill/>
          <a:ln w="28575">
            <a:solidFill>
              <a:srgbClr val="F237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8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Deploy Project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16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63C77-6FA1-47BC-A82F-1AEF333DC4C8}"/>
              </a:ext>
            </a:extLst>
          </p:cNvPr>
          <p:cNvSpPr txBox="1"/>
          <p:nvPr/>
        </p:nvSpPr>
        <p:spPr>
          <a:xfrm>
            <a:off x="6476675" y="5554310"/>
            <a:ext cx="3480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B4.3: Login</a:t>
            </a:r>
            <a:endParaRPr lang="en-US" sz="2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52B13B-4593-4C82-B5AC-679152A1442F}"/>
              </a:ext>
            </a:extLst>
          </p:cNvPr>
          <p:cNvSpPr/>
          <p:nvPr/>
        </p:nvSpPr>
        <p:spPr>
          <a:xfrm>
            <a:off x="8650514" y="3193143"/>
            <a:ext cx="740229" cy="174171"/>
          </a:xfrm>
          <a:prstGeom prst="rect">
            <a:avLst/>
          </a:prstGeom>
          <a:noFill/>
          <a:ln w="28575">
            <a:solidFill>
              <a:srgbClr val="F237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B5DF63-32F3-48D4-9891-DDBC257D6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365" y="2057924"/>
            <a:ext cx="6278856" cy="335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86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Deploy Project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17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63C77-6FA1-47BC-A82F-1AEF333DC4C8}"/>
              </a:ext>
            </a:extLst>
          </p:cNvPr>
          <p:cNvSpPr txBox="1"/>
          <p:nvPr/>
        </p:nvSpPr>
        <p:spPr>
          <a:xfrm>
            <a:off x="5101004" y="6241145"/>
            <a:ext cx="4278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B4.4: Choose </a:t>
            </a:r>
            <a:r>
              <a:rPr lang="en-US" sz="2000">
                <a:solidFill>
                  <a:schemeClr val="accent1"/>
                </a:solidFill>
                <a:hlinkClick r:id="rId3" action="ppaction://hlinksldjump"/>
              </a:rPr>
              <a:t>war file </a:t>
            </a:r>
            <a:r>
              <a:rPr lang="en-US" sz="2000">
                <a:solidFill>
                  <a:schemeClr val="accent1"/>
                </a:solidFill>
              </a:rPr>
              <a:t>and press deploy</a:t>
            </a:r>
            <a:endParaRPr lang="en-US" sz="2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52B13B-4593-4C82-B5AC-679152A1442F}"/>
              </a:ext>
            </a:extLst>
          </p:cNvPr>
          <p:cNvSpPr/>
          <p:nvPr/>
        </p:nvSpPr>
        <p:spPr>
          <a:xfrm>
            <a:off x="8650514" y="3193143"/>
            <a:ext cx="740229" cy="174171"/>
          </a:xfrm>
          <a:prstGeom prst="rect">
            <a:avLst/>
          </a:prstGeom>
          <a:noFill/>
          <a:ln w="28575">
            <a:solidFill>
              <a:srgbClr val="F237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7925A0-8701-4F1C-9167-BBA046FC3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745" y="1734072"/>
            <a:ext cx="8719920" cy="44158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B661D6E-1EB5-491A-9FF6-EBA4BC7E8F3D}"/>
              </a:ext>
            </a:extLst>
          </p:cNvPr>
          <p:cNvSpPr/>
          <p:nvPr/>
        </p:nvSpPr>
        <p:spPr>
          <a:xfrm>
            <a:off x="5545394" y="5633883"/>
            <a:ext cx="2713703" cy="501446"/>
          </a:xfrm>
          <a:prstGeom prst="rect">
            <a:avLst/>
          </a:prstGeom>
          <a:noFill/>
          <a:ln w="28575">
            <a:solidFill>
              <a:srgbClr val="F237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hlinkClick r:id="rId5" action="ppaction://hlinksldjump"/>
            <a:extLst>
              <a:ext uri="{FF2B5EF4-FFF2-40B4-BE49-F238E27FC236}">
                <a16:creationId xmlns:a16="http://schemas.microsoft.com/office/drawing/2014/main" id="{6D30B64C-3BFC-4C46-A01C-069256987FD7}"/>
              </a:ext>
            </a:extLst>
          </p:cNvPr>
          <p:cNvSpPr/>
          <p:nvPr/>
        </p:nvSpPr>
        <p:spPr>
          <a:xfrm flipH="1">
            <a:off x="10125332" y="6121877"/>
            <a:ext cx="1166673" cy="6279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45613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Add  A New Server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18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10DBE2-9A14-4FBA-B0C8-01B23BB2E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990" y="1907607"/>
            <a:ext cx="4340704" cy="38137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B836E3-E8AE-4362-8F21-F7A01F7156A5}"/>
              </a:ext>
            </a:extLst>
          </p:cNvPr>
          <p:cNvSpPr txBox="1"/>
          <p:nvPr/>
        </p:nvSpPr>
        <p:spPr>
          <a:xfrm>
            <a:off x="3893244" y="5917341"/>
            <a:ext cx="6471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B1. Window &gt; References &gt; Server &gt; Runtime Environment</a:t>
            </a:r>
          </a:p>
        </p:txBody>
      </p:sp>
    </p:spTree>
    <p:extLst>
      <p:ext uri="{BB962C8B-B14F-4D97-AF65-F5344CB8AC3E}">
        <p14:creationId xmlns:p14="http://schemas.microsoft.com/office/powerpoint/2010/main" val="1990330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Add  A New Server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19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B836E3-E8AE-4362-8F21-F7A01F7156A5}"/>
              </a:ext>
            </a:extLst>
          </p:cNvPr>
          <p:cNvSpPr txBox="1"/>
          <p:nvPr/>
        </p:nvSpPr>
        <p:spPr>
          <a:xfrm>
            <a:off x="3893244" y="5917341"/>
            <a:ext cx="6471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B2. Click Add button &gt; choose tomcat server &gt; Next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0EDD07-DD21-44EE-A871-26FD5C089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042" y="1717458"/>
            <a:ext cx="3773266" cy="399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9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Add  A New Server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20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B836E3-E8AE-4362-8F21-F7A01F7156A5}"/>
              </a:ext>
            </a:extLst>
          </p:cNvPr>
          <p:cNvSpPr txBox="1"/>
          <p:nvPr/>
        </p:nvSpPr>
        <p:spPr>
          <a:xfrm>
            <a:off x="4188542" y="6117396"/>
            <a:ext cx="6471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B3. Refer to home folder of Tomcat Server &gt; Finish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3D28F4-E66E-4731-813B-09270D6E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061" y="1696588"/>
            <a:ext cx="4031228" cy="42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8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Run Web Application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21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B836E3-E8AE-4362-8F21-F7A01F7156A5}"/>
              </a:ext>
            </a:extLst>
          </p:cNvPr>
          <p:cNvSpPr txBox="1"/>
          <p:nvPr/>
        </p:nvSpPr>
        <p:spPr>
          <a:xfrm>
            <a:off x="3858199" y="5754959"/>
            <a:ext cx="6471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B4. Right Click to project &gt; Run as &gt; Run on Server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7DA11F-C4D2-4182-B673-C998705B8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408" y="1716095"/>
            <a:ext cx="5046612" cy="387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5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B9A89-9645-4EC5-9203-09743E26AE9E}"/>
              </a:ext>
            </a:extLst>
          </p:cNvPr>
          <p:cNvSpPr/>
          <p:nvPr/>
        </p:nvSpPr>
        <p:spPr>
          <a:xfrm>
            <a:off x="105070" y="1637930"/>
            <a:ext cx="2397461" cy="522006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5DB3AB-8282-4E90-A158-BE65F7B23CEE}"/>
              </a:ext>
            </a:extLst>
          </p:cNvPr>
          <p:cNvSpPr/>
          <p:nvPr/>
        </p:nvSpPr>
        <p:spPr>
          <a:xfrm>
            <a:off x="11604306" y="1579875"/>
            <a:ext cx="391383" cy="46612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566D48-948E-41A2-AFDB-0DCBB374475E}"/>
              </a:ext>
            </a:extLst>
          </p:cNvPr>
          <p:cNvGrpSpPr/>
          <p:nvPr/>
        </p:nvGrpSpPr>
        <p:grpSpPr>
          <a:xfrm>
            <a:off x="1531907" y="44726"/>
            <a:ext cx="9371316" cy="1450756"/>
            <a:chOff x="2689010" y="1056860"/>
            <a:chExt cx="7303129" cy="874642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BFAD9A0C-FE99-44EB-B4C9-F54C2A378607}"/>
                </a:ext>
              </a:extLst>
            </p:cNvPr>
            <p:cNvSpPr/>
            <p:nvPr/>
          </p:nvSpPr>
          <p:spPr>
            <a:xfrm rot="10800000">
              <a:off x="2689010" y="1322097"/>
              <a:ext cx="861388" cy="371061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A0881DC-BB5E-4731-9D62-C096ABB39EFB}"/>
                </a:ext>
              </a:extLst>
            </p:cNvPr>
            <p:cNvSpPr/>
            <p:nvPr/>
          </p:nvSpPr>
          <p:spPr>
            <a:xfrm>
              <a:off x="3061249" y="1056860"/>
              <a:ext cx="6930890" cy="874642"/>
            </a:xfrm>
            <a:prstGeom prst="roundRect">
              <a:avLst>
                <a:gd name="adj" fmla="val 2424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2C4CB378-974E-4A09-80BB-92D8DD497A03}"/>
              </a:ext>
            </a:extLst>
          </p:cNvPr>
          <p:cNvSpPr/>
          <p:nvPr/>
        </p:nvSpPr>
        <p:spPr>
          <a:xfrm rot="19906743" flipV="1">
            <a:off x="11418977" y="196806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582411-7655-4F52-B46F-814F071D98AF}"/>
              </a:ext>
            </a:extLst>
          </p:cNvPr>
          <p:cNvSpPr/>
          <p:nvPr/>
        </p:nvSpPr>
        <p:spPr>
          <a:xfrm rot="19906743" flipV="1">
            <a:off x="11418977" y="232113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30ECD8-5BE0-4A0C-BDD9-45AC1B39F4A7}"/>
              </a:ext>
            </a:extLst>
          </p:cNvPr>
          <p:cNvSpPr/>
          <p:nvPr/>
        </p:nvSpPr>
        <p:spPr>
          <a:xfrm rot="19906743" flipV="1">
            <a:off x="11418977" y="2674211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46008B-4D15-44FD-B164-ED81655F7046}"/>
              </a:ext>
            </a:extLst>
          </p:cNvPr>
          <p:cNvSpPr/>
          <p:nvPr/>
        </p:nvSpPr>
        <p:spPr>
          <a:xfrm rot="19906743" flipV="1">
            <a:off x="11418977" y="3027286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755262A-E8B8-4E36-BC16-6BA5858C8BA9}"/>
              </a:ext>
            </a:extLst>
          </p:cNvPr>
          <p:cNvSpPr/>
          <p:nvPr/>
        </p:nvSpPr>
        <p:spPr>
          <a:xfrm rot="19906743" flipV="1">
            <a:off x="11418977" y="3380360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B17168-CF2E-465F-B731-0DCD4348B221}"/>
              </a:ext>
            </a:extLst>
          </p:cNvPr>
          <p:cNvSpPr/>
          <p:nvPr/>
        </p:nvSpPr>
        <p:spPr>
          <a:xfrm rot="19906743" flipV="1">
            <a:off x="11418977" y="3733435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DB3D4B-BCF9-4D18-99F7-7BDD300D17E1}"/>
              </a:ext>
            </a:extLst>
          </p:cNvPr>
          <p:cNvSpPr/>
          <p:nvPr/>
        </p:nvSpPr>
        <p:spPr>
          <a:xfrm rot="19906743" flipV="1">
            <a:off x="11418977" y="4086509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192CF3C-4F91-4CAE-903B-7580E9D9795B}"/>
              </a:ext>
            </a:extLst>
          </p:cNvPr>
          <p:cNvSpPr/>
          <p:nvPr/>
        </p:nvSpPr>
        <p:spPr>
          <a:xfrm rot="19906743" flipV="1">
            <a:off x="11418977" y="4439584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8E974EF-65DE-4FFB-ACF9-1866A967FA60}"/>
              </a:ext>
            </a:extLst>
          </p:cNvPr>
          <p:cNvSpPr/>
          <p:nvPr/>
        </p:nvSpPr>
        <p:spPr>
          <a:xfrm rot="19906743" flipV="1">
            <a:off x="11418977" y="4792658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0A675EC-DC68-4170-B03C-CE0E31988781}"/>
              </a:ext>
            </a:extLst>
          </p:cNvPr>
          <p:cNvSpPr/>
          <p:nvPr/>
        </p:nvSpPr>
        <p:spPr>
          <a:xfrm rot="19906743" flipV="1">
            <a:off x="11418977" y="5145733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D94740D-0EA0-4E9F-A1F0-3BACAE17B2C5}"/>
              </a:ext>
            </a:extLst>
          </p:cNvPr>
          <p:cNvSpPr/>
          <p:nvPr/>
        </p:nvSpPr>
        <p:spPr>
          <a:xfrm rot="19906743" flipV="1">
            <a:off x="11418977" y="5498807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B7F545-184A-4375-8E05-75EF1D560599}"/>
              </a:ext>
            </a:extLst>
          </p:cNvPr>
          <p:cNvSpPr/>
          <p:nvPr/>
        </p:nvSpPr>
        <p:spPr>
          <a:xfrm rot="19906743" flipV="1">
            <a:off x="11418977" y="5851882"/>
            <a:ext cx="681387" cy="1110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19AC5869-8564-4203-AEE2-F114D173C994}"/>
              </a:ext>
            </a:extLst>
          </p:cNvPr>
          <p:cNvSpPr/>
          <p:nvPr/>
        </p:nvSpPr>
        <p:spPr>
          <a:xfrm rot="5400000">
            <a:off x="1169751" y="464279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A07C82B7-C1A8-4D60-94AA-2595EB4495A7}"/>
              </a:ext>
            </a:extLst>
          </p:cNvPr>
          <p:cNvSpPr/>
          <p:nvPr/>
        </p:nvSpPr>
        <p:spPr>
          <a:xfrm rot="5400000">
            <a:off x="1173653" y="5374018"/>
            <a:ext cx="310329" cy="2657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270D9EE-95DB-4ABD-BAE1-75520C717922}"/>
              </a:ext>
            </a:extLst>
          </p:cNvPr>
          <p:cNvGrpSpPr/>
          <p:nvPr/>
        </p:nvGrpSpPr>
        <p:grpSpPr>
          <a:xfrm>
            <a:off x="10905695" y="261391"/>
            <a:ext cx="1393371" cy="1017426"/>
            <a:chOff x="6705600" y="3312228"/>
            <a:chExt cx="1393371" cy="1017426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A75FC65-15FE-438F-9A89-70B697B3F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" r="122" b="338"/>
            <a:stretch>
              <a:fillRect/>
            </a:stretch>
          </p:blipFill>
          <p:spPr>
            <a:xfrm>
              <a:off x="6916078" y="3312228"/>
              <a:ext cx="786720" cy="706150"/>
            </a:xfrm>
            <a:custGeom>
              <a:avLst/>
              <a:gdLst>
                <a:gd name="connsiteX0" fmla="*/ 648644 w 2252663"/>
                <a:gd name="connsiteY0" fmla="*/ 0 h 2021962"/>
                <a:gd name="connsiteX1" fmla="*/ 1608347 w 2252663"/>
                <a:gd name="connsiteY1" fmla="*/ 0 h 2021962"/>
                <a:gd name="connsiteX2" fmla="*/ 1743075 w 2252663"/>
                <a:gd name="connsiteY2" fmla="*/ 83625 h 2021962"/>
                <a:gd name="connsiteX3" fmla="*/ 2252663 w 2252663"/>
                <a:gd name="connsiteY3" fmla="*/ 940875 h 2021962"/>
                <a:gd name="connsiteX4" fmla="*/ 2238375 w 2252663"/>
                <a:gd name="connsiteY4" fmla="*/ 1078987 h 2021962"/>
                <a:gd name="connsiteX5" fmla="*/ 1757363 w 2252663"/>
                <a:gd name="connsiteY5" fmla="*/ 1912425 h 2021962"/>
                <a:gd name="connsiteX6" fmla="*/ 1719263 w 2252663"/>
                <a:gd name="connsiteY6" fmla="*/ 1969575 h 2021962"/>
                <a:gd name="connsiteX7" fmla="*/ 1609725 w 2252663"/>
                <a:gd name="connsiteY7" fmla="*/ 2021962 h 2021962"/>
                <a:gd name="connsiteX8" fmla="*/ 657225 w 2252663"/>
                <a:gd name="connsiteY8" fmla="*/ 2017200 h 2021962"/>
                <a:gd name="connsiteX9" fmla="*/ 600075 w 2252663"/>
                <a:gd name="connsiteY9" fmla="*/ 1998150 h 2021962"/>
                <a:gd name="connsiteX10" fmla="*/ 500063 w 2252663"/>
                <a:gd name="connsiteY10" fmla="*/ 1941000 h 2021962"/>
                <a:gd name="connsiteX11" fmla="*/ 19050 w 2252663"/>
                <a:gd name="connsiteY11" fmla="*/ 1098037 h 2021962"/>
                <a:gd name="connsiteX12" fmla="*/ 0 w 2252663"/>
                <a:gd name="connsiteY12" fmla="*/ 1050412 h 2021962"/>
                <a:gd name="connsiteX13" fmla="*/ 19050 w 2252663"/>
                <a:gd name="connsiteY13" fmla="*/ 907537 h 2021962"/>
                <a:gd name="connsiteX14" fmla="*/ 495300 w 2252663"/>
                <a:gd name="connsiteY14" fmla="*/ 78862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663" h="2021962">
                  <a:moveTo>
                    <a:pt x="648644" y="0"/>
                  </a:moveTo>
                  <a:lnTo>
                    <a:pt x="1608347" y="0"/>
                  </a:lnTo>
                  <a:lnTo>
                    <a:pt x="1743075" y="83625"/>
                  </a:lnTo>
                  <a:lnTo>
                    <a:pt x="2252663" y="940875"/>
                  </a:lnTo>
                  <a:lnTo>
                    <a:pt x="2238375" y="1078987"/>
                  </a:lnTo>
                  <a:lnTo>
                    <a:pt x="1757363" y="1912425"/>
                  </a:lnTo>
                  <a:lnTo>
                    <a:pt x="1719263" y="1969575"/>
                  </a:lnTo>
                  <a:lnTo>
                    <a:pt x="1609725" y="2021962"/>
                  </a:lnTo>
                  <a:lnTo>
                    <a:pt x="657225" y="2017200"/>
                  </a:lnTo>
                  <a:lnTo>
                    <a:pt x="600075" y="1998150"/>
                  </a:lnTo>
                  <a:lnTo>
                    <a:pt x="500063" y="1941000"/>
                  </a:lnTo>
                  <a:lnTo>
                    <a:pt x="19050" y="1098037"/>
                  </a:lnTo>
                  <a:lnTo>
                    <a:pt x="0" y="1050412"/>
                  </a:lnTo>
                  <a:lnTo>
                    <a:pt x="19050" y="907537"/>
                  </a:lnTo>
                  <a:lnTo>
                    <a:pt x="495300" y="78862"/>
                  </a:lnTo>
                  <a:close/>
                </a:path>
              </a:pathLst>
            </a:cu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31B8D3B-D03E-454F-8E21-83E68FB3E989}"/>
                </a:ext>
              </a:extLst>
            </p:cNvPr>
            <p:cNvSpPr txBox="1"/>
            <p:nvPr/>
          </p:nvSpPr>
          <p:spPr>
            <a:xfrm>
              <a:off x="6705600" y="3960322"/>
              <a:ext cx="139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Spring Boot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380A1F-D3A9-40D4-AD41-2F9C4B14EB40}"/>
              </a:ext>
            </a:extLst>
          </p:cNvPr>
          <p:cNvGrpSpPr/>
          <p:nvPr/>
        </p:nvGrpSpPr>
        <p:grpSpPr>
          <a:xfrm>
            <a:off x="90556" y="55721"/>
            <a:ext cx="1865109" cy="1450756"/>
            <a:chOff x="105067" y="49325"/>
            <a:chExt cx="1865109" cy="145075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7B85AAA-B69E-417B-B48D-7916F17616C9}"/>
                </a:ext>
              </a:extLst>
            </p:cNvPr>
            <p:cNvSpPr/>
            <p:nvPr/>
          </p:nvSpPr>
          <p:spPr>
            <a:xfrm>
              <a:off x="105067" y="49325"/>
              <a:ext cx="1865109" cy="1450756"/>
            </a:xfrm>
            <a:custGeom>
              <a:avLst/>
              <a:gdLst>
                <a:gd name="connsiteX0" fmla="*/ 690227 w 1865109"/>
                <a:gd name="connsiteY0" fmla="*/ 235412 h 1450756"/>
                <a:gd name="connsiteX1" fmla="*/ 225770 w 1865109"/>
                <a:gd name="connsiteY1" fmla="*/ 699869 h 1450756"/>
                <a:gd name="connsiteX2" fmla="*/ 690227 w 1865109"/>
                <a:gd name="connsiteY2" fmla="*/ 1164326 h 1450756"/>
                <a:gd name="connsiteX3" fmla="*/ 1154684 w 1865109"/>
                <a:gd name="connsiteY3" fmla="*/ 699869 h 1450756"/>
                <a:gd name="connsiteX4" fmla="*/ 690227 w 1865109"/>
                <a:gd name="connsiteY4" fmla="*/ 235412 h 1450756"/>
                <a:gd name="connsiteX5" fmla="*/ 287222 w 1865109"/>
                <a:gd name="connsiteY5" fmla="*/ 0 h 1450756"/>
                <a:gd name="connsiteX6" fmla="*/ 1577887 w 1865109"/>
                <a:gd name="connsiteY6" fmla="*/ 0 h 1450756"/>
                <a:gd name="connsiteX7" fmla="*/ 1865109 w 1865109"/>
                <a:gd name="connsiteY7" fmla="*/ 351706 h 1450756"/>
                <a:gd name="connsiteX8" fmla="*/ 1865109 w 1865109"/>
                <a:gd name="connsiteY8" fmla="*/ 384676 h 1450756"/>
                <a:gd name="connsiteX9" fmla="*/ 1620077 w 1865109"/>
                <a:gd name="connsiteY9" fmla="*/ 384676 h 1450756"/>
                <a:gd name="connsiteX10" fmla="*/ 1337351 w 1865109"/>
                <a:gd name="connsiteY10" fmla="*/ 730877 h 1450756"/>
                <a:gd name="connsiteX11" fmla="*/ 1620077 w 1865109"/>
                <a:gd name="connsiteY11" fmla="*/ 1077077 h 1450756"/>
                <a:gd name="connsiteX12" fmla="*/ 1865109 w 1865109"/>
                <a:gd name="connsiteY12" fmla="*/ 1077077 h 1450756"/>
                <a:gd name="connsiteX13" fmla="*/ 1865109 w 1865109"/>
                <a:gd name="connsiteY13" fmla="*/ 1099050 h 1450756"/>
                <a:gd name="connsiteX14" fmla="*/ 1577887 w 1865109"/>
                <a:gd name="connsiteY14" fmla="*/ 1450756 h 1450756"/>
                <a:gd name="connsiteX15" fmla="*/ 287222 w 1865109"/>
                <a:gd name="connsiteY15" fmla="*/ 1450756 h 1450756"/>
                <a:gd name="connsiteX16" fmla="*/ 0 w 1865109"/>
                <a:gd name="connsiteY16" fmla="*/ 1099050 h 1450756"/>
                <a:gd name="connsiteX17" fmla="*/ 0 w 1865109"/>
                <a:gd name="connsiteY17" fmla="*/ 351706 h 1450756"/>
                <a:gd name="connsiteX18" fmla="*/ 287222 w 1865109"/>
                <a:gd name="connsiteY18" fmla="*/ 0 h 1450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5109" h="1450756">
                  <a:moveTo>
                    <a:pt x="690227" y="235412"/>
                  </a:moveTo>
                  <a:cubicBezTo>
                    <a:pt x="433714" y="235412"/>
                    <a:pt x="225770" y="443356"/>
                    <a:pt x="225770" y="699869"/>
                  </a:cubicBezTo>
                  <a:cubicBezTo>
                    <a:pt x="225770" y="956382"/>
                    <a:pt x="433714" y="1164326"/>
                    <a:pt x="690227" y="1164326"/>
                  </a:cubicBezTo>
                  <a:cubicBezTo>
                    <a:pt x="946740" y="1164326"/>
                    <a:pt x="1154684" y="956382"/>
                    <a:pt x="1154684" y="699869"/>
                  </a:cubicBezTo>
                  <a:cubicBezTo>
                    <a:pt x="1154684" y="443356"/>
                    <a:pt x="946740" y="235412"/>
                    <a:pt x="690227" y="235412"/>
                  </a:cubicBezTo>
                  <a:close/>
                  <a:moveTo>
                    <a:pt x="287222" y="0"/>
                  </a:moveTo>
                  <a:lnTo>
                    <a:pt x="1577887" y="0"/>
                  </a:lnTo>
                  <a:cubicBezTo>
                    <a:pt x="1736516" y="0"/>
                    <a:pt x="1865109" y="157464"/>
                    <a:pt x="1865109" y="351706"/>
                  </a:cubicBezTo>
                  <a:lnTo>
                    <a:pt x="1865109" y="384676"/>
                  </a:lnTo>
                  <a:lnTo>
                    <a:pt x="1620077" y="384676"/>
                  </a:lnTo>
                  <a:lnTo>
                    <a:pt x="1337351" y="730877"/>
                  </a:lnTo>
                  <a:lnTo>
                    <a:pt x="1620077" y="1077077"/>
                  </a:lnTo>
                  <a:lnTo>
                    <a:pt x="1865109" y="1077077"/>
                  </a:lnTo>
                  <a:lnTo>
                    <a:pt x="1865109" y="1099050"/>
                  </a:lnTo>
                  <a:cubicBezTo>
                    <a:pt x="1865109" y="1293292"/>
                    <a:pt x="1736516" y="1450756"/>
                    <a:pt x="1577887" y="1450756"/>
                  </a:cubicBezTo>
                  <a:lnTo>
                    <a:pt x="287222" y="1450756"/>
                  </a:lnTo>
                  <a:cubicBezTo>
                    <a:pt x="128593" y="1450756"/>
                    <a:pt x="0" y="1293292"/>
                    <a:pt x="0" y="1099050"/>
                  </a:cubicBezTo>
                  <a:lnTo>
                    <a:pt x="0" y="351706"/>
                  </a:lnTo>
                  <a:cubicBezTo>
                    <a:pt x="0" y="157464"/>
                    <a:pt x="128593" y="0"/>
                    <a:pt x="287222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F9065FC1-31FC-438A-8916-CA8EF47600EF}"/>
                </a:ext>
              </a:extLst>
            </p:cNvPr>
            <p:cNvSpPr/>
            <p:nvPr/>
          </p:nvSpPr>
          <p:spPr>
            <a:xfrm>
              <a:off x="384602" y="331895"/>
              <a:ext cx="834598" cy="834598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/>
                <a:t>3</a:t>
              </a:r>
            </a:p>
          </p:txBody>
        </p:sp>
      </p:grpSp>
      <p:sp>
        <p:nvSpPr>
          <p:cNvPr id="68" name="Title 67">
            <a:extLst>
              <a:ext uri="{FF2B5EF4-FFF2-40B4-BE49-F238E27FC236}">
                <a16:creationId xmlns:a16="http://schemas.microsoft.com/office/drawing/2014/main" id="{6887EAFF-1289-4109-8A83-BF44478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257" y="92808"/>
            <a:ext cx="8366836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Run Web Application</a:t>
            </a:r>
          </a:p>
        </p:txBody>
      </p:sp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9B5D299D-3FFE-46F8-ADBD-4780A021C882}"/>
              </a:ext>
            </a:extLst>
          </p:cNvPr>
          <p:cNvSpPr/>
          <p:nvPr/>
        </p:nvSpPr>
        <p:spPr>
          <a:xfrm>
            <a:off x="11546132" y="6344833"/>
            <a:ext cx="478702" cy="478702"/>
          </a:xfrm>
          <a:prstGeom prst="flowChartConnector">
            <a:avLst/>
          </a:prstGeom>
          <a:solidFill>
            <a:srgbClr val="014B3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63F9A15-E631-4AF5-BEA1-974BCB067A5D}" type="slidenum">
              <a:rPr lang="en-US"/>
              <a:t>22</a:t>
            </a:fld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F40BF8-D0B7-41CE-98DE-C4B5178F702A}"/>
              </a:ext>
            </a:extLst>
          </p:cNvPr>
          <p:cNvSpPr txBox="1"/>
          <p:nvPr/>
        </p:nvSpPr>
        <p:spPr>
          <a:xfrm>
            <a:off x="164436" y="2288870"/>
            <a:ext cx="23488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Which Embedded web servers does spring boot support?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Concepts and advantages of each embedded web servers?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rgbClr val="FFC000"/>
                </a:solidFill>
              </a:rPr>
              <a:t>If there isn’t Spring Boot, how to run tomcat server?</a:t>
            </a:r>
          </a:p>
          <a:p>
            <a:pPr marL="342900" indent="-342900">
              <a:buFont typeface="+mj-lt"/>
              <a:buAutoNum type="arabicPeriod"/>
            </a:pPr>
            <a:endParaRPr lang="en-US" sz="120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Demo.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by Spring Boot.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200">
                <a:solidFill>
                  <a:schemeClr val="bg1"/>
                </a:solidFill>
              </a:rPr>
              <a:t>Start Tomcat server not use Spring Boot.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B836E3-E8AE-4362-8F21-F7A01F7156A5}"/>
              </a:ext>
            </a:extLst>
          </p:cNvPr>
          <p:cNvSpPr txBox="1"/>
          <p:nvPr/>
        </p:nvSpPr>
        <p:spPr>
          <a:xfrm>
            <a:off x="4455567" y="5944723"/>
            <a:ext cx="6471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B5. Choose Tomcat Server and click finish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21EA8A-8E22-4B2C-92CE-ED5BDEE4B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279" y="2003697"/>
            <a:ext cx="2866792" cy="3550613"/>
          </a:xfrm>
          <a:prstGeom prst="rect">
            <a:avLst/>
          </a:prstGeom>
        </p:spPr>
      </p:pic>
      <p:sp>
        <p:nvSpPr>
          <p:cNvPr id="40" name="Arrow: Right 39">
            <a:extLst>
              <a:ext uri="{FF2B5EF4-FFF2-40B4-BE49-F238E27FC236}">
                <a16:creationId xmlns:a16="http://schemas.microsoft.com/office/drawing/2014/main" id="{E1D78ACF-A0FC-4A2B-99D9-973F9D0867B8}"/>
              </a:ext>
            </a:extLst>
          </p:cNvPr>
          <p:cNvSpPr/>
          <p:nvPr/>
        </p:nvSpPr>
        <p:spPr>
          <a:xfrm flipH="1">
            <a:off x="10125332" y="6121877"/>
            <a:ext cx="1166673" cy="6279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hlinkClick r:id="rId4" action="ppaction://hlinksldjump"/>
              </a:rPr>
              <a:t>Back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9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</TotalTime>
  <Words>1607</Words>
  <Application>Microsoft Office PowerPoint</Application>
  <PresentationFormat>Widescreen</PresentationFormat>
  <Paragraphs>387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Roboto</vt:lpstr>
      <vt:lpstr>Office Theme</vt:lpstr>
      <vt:lpstr>PowerPoint Presentation</vt:lpstr>
      <vt:lpstr>Embedded Servers</vt:lpstr>
      <vt:lpstr>Concepts</vt:lpstr>
      <vt:lpstr>Advantages</vt:lpstr>
      <vt:lpstr>If there isn’t Spring Boot, how to deploy application tomcat server?</vt:lpstr>
      <vt:lpstr>THANK YOU</vt:lpstr>
      <vt:lpstr>Sevlet là gì?</vt:lpstr>
      <vt:lpstr>Servlet containers</vt:lpstr>
      <vt:lpstr>Java Servlet Containers</vt:lpstr>
      <vt:lpstr>Build war file</vt:lpstr>
      <vt:lpstr>Download Tomcat</vt:lpstr>
      <vt:lpstr>Install Tomcat</vt:lpstr>
      <vt:lpstr>Start Tomcat</vt:lpstr>
      <vt:lpstr>Deploy Project</vt:lpstr>
      <vt:lpstr>Deploy Project</vt:lpstr>
      <vt:lpstr>Deploy Project</vt:lpstr>
      <vt:lpstr>Deploy Project</vt:lpstr>
      <vt:lpstr>Add  A New Server</vt:lpstr>
      <vt:lpstr>Add  A New Server</vt:lpstr>
      <vt:lpstr>Add  A New Server</vt:lpstr>
      <vt:lpstr>Run Web Application</vt:lpstr>
      <vt:lpstr>Run Web 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MY-PC</dc:creator>
  <cp:lastModifiedBy>MY-PC</cp:lastModifiedBy>
  <cp:revision>78</cp:revision>
  <dcterms:created xsi:type="dcterms:W3CDTF">2021-04-22T03:04:15Z</dcterms:created>
  <dcterms:modified xsi:type="dcterms:W3CDTF">2021-04-25T08:42:55Z</dcterms:modified>
</cp:coreProperties>
</file>